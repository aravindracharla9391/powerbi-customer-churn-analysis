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9" r:id="rId4"/>
    <p:sldId id="279" r:id="rId5"/>
    <p:sldId id="258" r:id="rId6"/>
    <p:sldId id="261" r:id="rId7"/>
    <p:sldId id="276" r:id="rId8"/>
    <p:sldId id="264" r:id="rId9"/>
    <p:sldId id="263" r:id="rId10"/>
    <p:sldId id="266" r:id="rId11"/>
    <p:sldId id="265" r:id="rId12"/>
    <p:sldId id="268" r:id="rId13"/>
    <p:sldId id="267" r:id="rId14"/>
    <p:sldId id="270" r:id="rId15"/>
    <p:sldId id="269" r:id="rId16"/>
    <p:sldId id="271" r:id="rId17"/>
    <p:sldId id="280" r:id="rId18"/>
    <p:sldId id="273" r:id="rId19"/>
    <p:sldId id="274" r:id="rId20"/>
    <p:sldId id="278"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44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p:cViewPr varScale="1">
        <p:scale>
          <a:sx n="59" d="100"/>
          <a:sy n="59" d="100"/>
        </p:scale>
        <p:origin x="100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822008B-8306-423D-804C-4302F3C385E0}" type="datetimeFigureOut">
              <a:rPr lang="en-IN" smtClean="0"/>
              <a:t>02-01-2026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0DAAC26-D88C-44CC-981F-B5CCE56FE813}" type="slidenum">
              <a:rPr lang="en-IN" smtClean="0"/>
              <a:t>‹#›</a:t>
            </a:fld>
            <a:endParaRPr lang="en-IN"/>
          </a:p>
        </p:txBody>
      </p:sp>
    </p:spTree>
    <p:extLst>
      <p:ext uri="{BB962C8B-B14F-4D97-AF65-F5344CB8AC3E}">
        <p14:creationId xmlns:p14="http://schemas.microsoft.com/office/powerpoint/2010/main" val="1939461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DAAC26-D88C-44CC-981F-B5CCE56FE813}" type="slidenum">
              <a:rPr lang="en-IN" smtClean="0"/>
              <a:t>8</a:t>
            </a:fld>
            <a:endParaRPr lang="en-IN"/>
          </a:p>
        </p:txBody>
      </p:sp>
    </p:spTree>
    <p:extLst>
      <p:ext uri="{BB962C8B-B14F-4D97-AF65-F5344CB8AC3E}">
        <p14:creationId xmlns:p14="http://schemas.microsoft.com/office/powerpoint/2010/main" val="291814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DAAC26-D88C-44CC-981F-B5CCE56FE813}" type="slidenum">
              <a:rPr lang="en-IN" smtClean="0"/>
              <a:t>14</a:t>
            </a:fld>
            <a:endParaRPr lang="en-IN"/>
          </a:p>
        </p:txBody>
      </p:sp>
    </p:spTree>
    <p:extLst>
      <p:ext uri="{BB962C8B-B14F-4D97-AF65-F5344CB8AC3E}">
        <p14:creationId xmlns:p14="http://schemas.microsoft.com/office/powerpoint/2010/main" val="429582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95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12153899" cy="6858000"/>
          </a:xfrm>
          <a:prstGeom prst="rect">
            <a:avLst/>
          </a:prstGeom>
        </p:spPr>
      </p:pic>
      <p:sp>
        <p:nvSpPr>
          <p:cNvPr id="2" name="Holder 2"/>
          <p:cNvSpPr>
            <a:spLocks noGrp="1"/>
          </p:cNvSpPr>
          <p:nvPr>
            <p:ph type="title"/>
          </p:nvPr>
        </p:nvSpPr>
        <p:spPr/>
        <p:txBody>
          <a:bodyPr lIns="0" tIns="0" rIns="0" bIns="0"/>
          <a:lstStyle>
            <a:lvl1pPr>
              <a:defRPr sz="3950" b="1"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2857435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91832" y="582294"/>
            <a:ext cx="10808335" cy="632460"/>
          </a:xfrm>
          <a:prstGeom prst="rect">
            <a:avLst/>
          </a:prstGeom>
        </p:spPr>
        <p:txBody>
          <a:bodyPr wrap="square" lIns="0" tIns="0" rIns="0" bIns="0">
            <a:spAutoFit/>
          </a:bodyPr>
          <a:lstStyle>
            <a:lvl1pPr>
              <a:defRPr sz="3950" b="1"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1030605" y="1328102"/>
            <a:ext cx="10039985" cy="4607560"/>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966834" y="5196840"/>
            <a:ext cx="3056255" cy="1298575"/>
          </a:xfrm>
          <a:prstGeom prst="rect">
            <a:avLst/>
          </a:prstGeom>
        </p:spPr>
        <p:txBody>
          <a:bodyPr vert="horz" wrap="square" lIns="0" tIns="16510" rIns="0" bIns="0" rtlCol="0">
            <a:spAutoFit/>
          </a:bodyPr>
          <a:lstStyle/>
          <a:p>
            <a:pPr marL="12700" marR="1405890">
              <a:lnSpc>
                <a:spcPct val="100000"/>
              </a:lnSpc>
              <a:spcBef>
                <a:spcPts val="130"/>
              </a:spcBef>
            </a:pPr>
            <a:r>
              <a:rPr sz="2750" spc="-795" dirty="0">
                <a:solidFill>
                  <a:srgbClr val="000000"/>
                </a:solidFill>
                <a:latin typeface="Arial"/>
                <a:cs typeface="Arial"/>
              </a:rPr>
              <a:t>N</a:t>
            </a:r>
            <a:r>
              <a:rPr sz="2750" spc="-465" dirty="0">
                <a:solidFill>
                  <a:srgbClr val="000000"/>
                </a:solidFill>
                <a:latin typeface="Arial"/>
                <a:cs typeface="Arial"/>
              </a:rPr>
              <a:t>a</a:t>
            </a:r>
            <a:r>
              <a:rPr sz="2750" spc="-775" dirty="0">
                <a:solidFill>
                  <a:srgbClr val="000000"/>
                </a:solidFill>
                <a:latin typeface="Arial"/>
                <a:cs typeface="Arial"/>
              </a:rPr>
              <a:t>m</a:t>
            </a:r>
            <a:r>
              <a:rPr sz="2750" spc="-550" dirty="0">
                <a:solidFill>
                  <a:srgbClr val="000000"/>
                </a:solidFill>
                <a:latin typeface="Arial"/>
                <a:cs typeface="Arial"/>
              </a:rPr>
              <a:t>e</a:t>
            </a:r>
            <a:r>
              <a:rPr sz="2750" spc="-95" dirty="0">
                <a:solidFill>
                  <a:srgbClr val="000000"/>
                </a:solidFill>
                <a:latin typeface="Arial"/>
                <a:cs typeface="Arial"/>
              </a:rPr>
              <a:t>:</a:t>
            </a:r>
            <a:r>
              <a:rPr sz="2750" spc="-325" dirty="0">
                <a:solidFill>
                  <a:srgbClr val="000000"/>
                </a:solidFill>
                <a:latin typeface="Arial"/>
                <a:cs typeface="Arial"/>
              </a:rPr>
              <a:t> </a:t>
            </a:r>
            <a:r>
              <a:rPr sz="2750" spc="-760" dirty="0">
                <a:solidFill>
                  <a:srgbClr val="000000"/>
                </a:solidFill>
                <a:latin typeface="Arial"/>
                <a:cs typeface="Arial"/>
              </a:rPr>
              <a:t>M</a:t>
            </a:r>
            <a:r>
              <a:rPr sz="2750" spc="-125" dirty="0">
                <a:solidFill>
                  <a:srgbClr val="000000"/>
                </a:solidFill>
                <a:latin typeface="Arial"/>
                <a:cs typeface="Arial"/>
              </a:rPr>
              <a:t>.</a:t>
            </a:r>
            <a:r>
              <a:rPr sz="2750" spc="-355" dirty="0">
                <a:solidFill>
                  <a:srgbClr val="000000"/>
                </a:solidFill>
                <a:latin typeface="Arial"/>
                <a:cs typeface="Arial"/>
              </a:rPr>
              <a:t> </a:t>
            </a:r>
            <a:r>
              <a:rPr sz="2750" spc="-770" dirty="0">
                <a:solidFill>
                  <a:srgbClr val="000000"/>
                </a:solidFill>
                <a:latin typeface="Arial"/>
                <a:cs typeface="Arial"/>
              </a:rPr>
              <a:t>V</a:t>
            </a:r>
            <a:r>
              <a:rPr sz="2750" spc="-475" dirty="0">
                <a:solidFill>
                  <a:srgbClr val="000000"/>
                </a:solidFill>
                <a:latin typeface="Arial"/>
                <a:cs typeface="Arial"/>
              </a:rPr>
              <a:t>a</a:t>
            </a:r>
            <a:r>
              <a:rPr sz="2750" spc="-575" dirty="0">
                <a:solidFill>
                  <a:srgbClr val="000000"/>
                </a:solidFill>
                <a:latin typeface="Arial"/>
                <a:cs typeface="Arial"/>
              </a:rPr>
              <a:t>n</a:t>
            </a:r>
            <a:r>
              <a:rPr sz="2750" spc="-105" dirty="0">
                <a:solidFill>
                  <a:srgbClr val="000000"/>
                </a:solidFill>
                <a:latin typeface="Arial"/>
                <a:cs typeface="Arial"/>
              </a:rPr>
              <a:t>i</a:t>
            </a:r>
            <a:r>
              <a:rPr sz="2750" spc="-484" dirty="0">
                <a:solidFill>
                  <a:srgbClr val="000000"/>
                </a:solidFill>
                <a:latin typeface="Arial"/>
                <a:cs typeface="Arial"/>
              </a:rPr>
              <a:t> </a:t>
            </a:r>
            <a:r>
              <a:rPr sz="2750" spc="-785" dirty="0">
                <a:solidFill>
                  <a:srgbClr val="000000"/>
                </a:solidFill>
                <a:latin typeface="Arial"/>
                <a:cs typeface="Arial"/>
              </a:rPr>
              <a:t>B</a:t>
            </a:r>
            <a:r>
              <a:rPr sz="2750" spc="-484" dirty="0">
                <a:solidFill>
                  <a:srgbClr val="000000"/>
                </a:solidFill>
                <a:latin typeface="Arial"/>
                <a:cs typeface="Arial"/>
              </a:rPr>
              <a:t>a</a:t>
            </a:r>
            <a:r>
              <a:rPr sz="2750" spc="-280" dirty="0">
                <a:solidFill>
                  <a:srgbClr val="000000"/>
                </a:solidFill>
                <a:latin typeface="Arial"/>
                <a:cs typeface="Arial"/>
              </a:rPr>
              <a:t>t</a:t>
            </a:r>
            <a:r>
              <a:rPr sz="2750" spc="-495" dirty="0">
                <a:solidFill>
                  <a:srgbClr val="000000"/>
                </a:solidFill>
                <a:latin typeface="Arial"/>
                <a:cs typeface="Arial"/>
              </a:rPr>
              <a:t>c</a:t>
            </a:r>
            <a:r>
              <a:rPr sz="2750" spc="55" dirty="0">
                <a:solidFill>
                  <a:srgbClr val="000000"/>
                </a:solidFill>
                <a:latin typeface="Arial"/>
                <a:cs typeface="Arial"/>
              </a:rPr>
              <a:t>h</a:t>
            </a:r>
            <a:r>
              <a:rPr sz="2750" spc="-585" dirty="0">
                <a:solidFill>
                  <a:srgbClr val="000000"/>
                </a:solidFill>
                <a:latin typeface="Arial"/>
                <a:cs typeface="Arial"/>
              </a:rPr>
              <a:t>n</a:t>
            </a:r>
            <a:r>
              <a:rPr sz="2750" spc="-635" dirty="0">
                <a:solidFill>
                  <a:srgbClr val="000000"/>
                </a:solidFill>
                <a:latin typeface="Arial"/>
                <a:cs typeface="Arial"/>
              </a:rPr>
              <a:t>o</a:t>
            </a:r>
            <a:r>
              <a:rPr sz="2750" spc="-114" dirty="0">
                <a:solidFill>
                  <a:srgbClr val="000000"/>
                </a:solidFill>
                <a:latin typeface="Arial"/>
                <a:cs typeface="Arial"/>
              </a:rPr>
              <a:t>:</a:t>
            </a:r>
            <a:r>
              <a:rPr sz="2750" spc="-405" dirty="0">
                <a:solidFill>
                  <a:srgbClr val="000000"/>
                </a:solidFill>
                <a:latin typeface="Arial"/>
                <a:cs typeface="Arial"/>
              </a:rPr>
              <a:t> </a:t>
            </a:r>
            <a:r>
              <a:rPr sz="2750" spc="-280" dirty="0">
                <a:solidFill>
                  <a:srgbClr val="000000"/>
                </a:solidFill>
                <a:latin typeface="Arial"/>
                <a:cs typeface="Arial"/>
              </a:rPr>
              <a:t>435</a:t>
            </a:r>
            <a:endParaRPr sz="2750" dirty="0">
              <a:latin typeface="Arial"/>
              <a:cs typeface="Arial"/>
            </a:endParaRPr>
          </a:p>
          <a:p>
            <a:pPr marL="12700">
              <a:lnSpc>
                <a:spcPct val="100000"/>
              </a:lnSpc>
              <a:spcBef>
                <a:spcPts val="85"/>
              </a:spcBef>
            </a:pPr>
            <a:r>
              <a:rPr sz="2750" spc="-310" dirty="0">
                <a:solidFill>
                  <a:srgbClr val="000000"/>
                </a:solidFill>
                <a:latin typeface="Arial"/>
                <a:cs typeface="Arial"/>
              </a:rPr>
              <a:t>I</a:t>
            </a:r>
            <a:r>
              <a:rPr sz="2750" spc="-455" dirty="0">
                <a:solidFill>
                  <a:srgbClr val="000000"/>
                </a:solidFill>
                <a:latin typeface="Arial"/>
                <a:cs typeface="Arial"/>
              </a:rPr>
              <a:t>n</a:t>
            </a:r>
            <a:r>
              <a:rPr sz="2750" spc="-535" dirty="0">
                <a:solidFill>
                  <a:srgbClr val="000000"/>
                </a:solidFill>
                <a:latin typeface="Arial"/>
                <a:cs typeface="Arial"/>
              </a:rPr>
              <a:t>n</a:t>
            </a:r>
            <a:r>
              <a:rPr sz="2750" spc="-585" dirty="0">
                <a:solidFill>
                  <a:srgbClr val="000000"/>
                </a:solidFill>
                <a:latin typeface="Arial"/>
                <a:cs typeface="Arial"/>
              </a:rPr>
              <a:t>o</a:t>
            </a:r>
            <a:r>
              <a:rPr sz="2750" spc="-670" dirty="0">
                <a:solidFill>
                  <a:srgbClr val="000000"/>
                </a:solidFill>
                <a:latin typeface="Arial"/>
                <a:cs typeface="Arial"/>
              </a:rPr>
              <a:t>m</a:t>
            </a:r>
            <a:r>
              <a:rPr sz="2750" spc="-425" dirty="0">
                <a:solidFill>
                  <a:srgbClr val="000000"/>
                </a:solidFill>
                <a:latin typeface="Arial"/>
                <a:cs typeface="Arial"/>
              </a:rPr>
              <a:t>a</a:t>
            </a:r>
            <a:r>
              <a:rPr sz="2750" spc="-240" dirty="0">
                <a:solidFill>
                  <a:srgbClr val="000000"/>
                </a:solidFill>
                <a:latin typeface="Arial"/>
                <a:cs typeface="Arial"/>
              </a:rPr>
              <a:t>t</a:t>
            </a:r>
            <a:r>
              <a:rPr sz="2750" spc="-260" dirty="0">
                <a:solidFill>
                  <a:srgbClr val="000000"/>
                </a:solidFill>
                <a:latin typeface="Arial"/>
                <a:cs typeface="Arial"/>
              </a:rPr>
              <a:t>i</a:t>
            </a:r>
            <a:r>
              <a:rPr sz="2750" spc="-445" dirty="0">
                <a:solidFill>
                  <a:srgbClr val="000000"/>
                </a:solidFill>
                <a:latin typeface="Arial"/>
                <a:cs typeface="Arial"/>
              </a:rPr>
              <a:t>c</a:t>
            </a:r>
            <a:r>
              <a:rPr sz="2750" spc="75" dirty="0">
                <a:solidFill>
                  <a:srgbClr val="000000"/>
                </a:solidFill>
                <a:latin typeface="Arial"/>
                <a:cs typeface="Arial"/>
              </a:rPr>
              <a:t>s</a:t>
            </a:r>
            <a:r>
              <a:rPr sz="2750" spc="-400" dirty="0">
                <a:solidFill>
                  <a:srgbClr val="000000"/>
                </a:solidFill>
                <a:latin typeface="Arial"/>
                <a:cs typeface="Arial"/>
              </a:rPr>
              <a:t>r</a:t>
            </a:r>
            <a:r>
              <a:rPr sz="2750" spc="-445" dirty="0">
                <a:solidFill>
                  <a:srgbClr val="000000"/>
                </a:solidFill>
                <a:latin typeface="Arial"/>
                <a:cs typeface="Arial"/>
              </a:rPr>
              <a:t>e</a:t>
            </a:r>
            <a:r>
              <a:rPr sz="2750" spc="-490" dirty="0">
                <a:solidFill>
                  <a:srgbClr val="000000"/>
                </a:solidFill>
                <a:latin typeface="Arial"/>
                <a:cs typeface="Arial"/>
              </a:rPr>
              <a:t>s</a:t>
            </a:r>
            <a:r>
              <a:rPr sz="2750" spc="-520" dirty="0">
                <a:solidFill>
                  <a:srgbClr val="000000"/>
                </a:solidFill>
                <a:latin typeface="Arial"/>
                <a:cs typeface="Arial"/>
              </a:rPr>
              <a:t>e</a:t>
            </a:r>
            <a:r>
              <a:rPr sz="2750" spc="-425" dirty="0">
                <a:solidFill>
                  <a:srgbClr val="000000"/>
                </a:solidFill>
                <a:latin typeface="Arial"/>
                <a:cs typeface="Arial"/>
              </a:rPr>
              <a:t>a</a:t>
            </a:r>
            <a:r>
              <a:rPr sz="2750" spc="-335" dirty="0">
                <a:solidFill>
                  <a:srgbClr val="000000"/>
                </a:solidFill>
                <a:latin typeface="Arial"/>
                <a:cs typeface="Arial"/>
              </a:rPr>
              <a:t>r</a:t>
            </a:r>
            <a:r>
              <a:rPr sz="2750" spc="-445" dirty="0">
                <a:solidFill>
                  <a:srgbClr val="000000"/>
                </a:solidFill>
                <a:latin typeface="Arial"/>
                <a:cs typeface="Arial"/>
              </a:rPr>
              <a:t>c</a:t>
            </a:r>
            <a:r>
              <a:rPr sz="2750" spc="110" dirty="0">
                <a:solidFill>
                  <a:srgbClr val="000000"/>
                </a:solidFill>
                <a:latin typeface="Arial"/>
                <a:cs typeface="Arial"/>
              </a:rPr>
              <a:t>h</a:t>
            </a:r>
            <a:r>
              <a:rPr sz="2750" spc="-265" dirty="0">
                <a:solidFill>
                  <a:srgbClr val="000000"/>
                </a:solidFill>
                <a:latin typeface="Arial"/>
                <a:cs typeface="Arial"/>
              </a:rPr>
              <a:t>l</a:t>
            </a:r>
            <a:r>
              <a:rPr sz="2750" spc="-425" dirty="0">
                <a:solidFill>
                  <a:srgbClr val="000000"/>
                </a:solidFill>
                <a:latin typeface="Arial"/>
                <a:cs typeface="Arial"/>
              </a:rPr>
              <a:t>a</a:t>
            </a:r>
            <a:r>
              <a:rPr sz="2750" spc="-505" dirty="0">
                <a:solidFill>
                  <a:srgbClr val="000000"/>
                </a:solidFill>
                <a:latin typeface="Arial"/>
                <a:cs typeface="Arial"/>
              </a:rPr>
              <a:t>b</a:t>
            </a:r>
            <a:r>
              <a:rPr sz="2750" spc="-65" dirty="0">
                <a:solidFill>
                  <a:srgbClr val="000000"/>
                </a:solidFill>
                <a:latin typeface="Arial"/>
                <a:cs typeface="Arial"/>
              </a:rPr>
              <a:t>s</a:t>
            </a:r>
            <a:endParaRPr sz="2750" dirty="0">
              <a:latin typeface="Arial"/>
              <a:cs typeface="Arial"/>
            </a:endParaRPr>
          </a:p>
        </p:txBody>
      </p:sp>
      <p:pic>
        <p:nvPicPr>
          <p:cNvPr id="3" name="Google Shape;98;p1">
            <a:extLst>
              <a:ext uri="{FF2B5EF4-FFF2-40B4-BE49-F238E27FC236}">
                <a16:creationId xmlns:a16="http://schemas.microsoft.com/office/drawing/2014/main" id="{9402AD8C-817C-A619-1F9E-05E9DCEAB9C8}"/>
              </a:ext>
            </a:extLst>
          </p:cNvPr>
          <p:cNvPicPr preferRelativeResize="0"/>
          <p:nvPr/>
        </p:nvPicPr>
        <p:blipFill rotWithShape="1">
          <a:blip r:embed="rId2">
            <a:alphaModFix/>
          </a:blip>
          <a:srcRect/>
          <a:stretch/>
        </p:blipFill>
        <p:spPr>
          <a:xfrm>
            <a:off x="592" y="0"/>
            <a:ext cx="12190815" cy="6694098"/>
          </a:xfrm>
          <a:prstGeom prst="rect">
            <a:avLst/>
          </a:prstGeom>
          <a:noFill/>
          <a:ln>
            <a:noFill/>
          </a:ln>
        </p:spPr>
      </p:pic>
      <p:sp>
        <p:nvSpPr>
          <p:cNvPr id="4" name="Google Shape;99;p1">
            <a:extLst>
              <a:ext uri="{FF2B5EF4-FFF2-40B4-BE49-F238E27FC236}">
                <a16:creationId xmlns:a16="http://schemas.microsoft.com/office/drawing/2014/main" id="{4463A9E9-3262-56C4-7D42-46D56F6097DC}"/>
              </a:ext>
            </a:extLst>
          </p:cNvPr>
          <p:cNvSpPr txBox="1"/>
          <p:nvPr/>
        </p:nvSpPr>
        <p:spPr>
          <a:xfrm>
            <a:off x="2320504" y="3239015"/>
            <a:ext cx="7246189" cy="1200288"/>
          </a:xfrm>
          <a:prstGeom prst="rect">
            <a:avLst/>
          </a:prstGeom>
          <a:noFill/>
          <a:ln>
            <a:noFill/>
          </a:ln>
        </p:spPr>
        <p:txBody>
          <a:bodyPr spcFirstLastPara="1" wrap="square" lIns="91425" tIns="45700" rIns="91425" bIns="45700" anchor="t" anchorCtr="0">
            <a:spAutoFit/>
          </a:bodyPr>
          <a:lstStyle/>
          <a:p>
            <a:pPr lvl="0" algn="ctr">
              <a:buSzPts val="1800"/>
            </a:pPr>
            <a:endParaRPr lang="en-IN" sz="3600" b="1" dirty="0"/>
          </a:p>
          <a:p>
            <a:pPr lvl="0" algn="ctr">
              <a:buSzPts val="1800"/>
            </a:pPr>
            <a:r>
              <a:rPr lang="en-IN" sz="3600" b="1" dirty="0">
                <a:latin typeface="Arial" panose="020B0604020202020204" pitchFamily="34" charset="0"/>
                <a:cs typeface="Arial" panose="020B0604020202020204" pitchFamily="34" charset="0"/>
              </a:rPr>
              <a:t>Customer</a:t>
            </a:r>
            <a:r>
              <a:rPr lang="en-IN" sz="3600" b="1" dirty="0"/>
              <a:t> Churn Analysis</a:t>
            </a:r>
            <a:endParaRPr sz="3600" b="1" i="0" u="none" strike="noStrike" cap="none" dirty="0">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E69AD336-860F-D4AD-4844-39CE2DF7E866}"/>
              </a:ext>
            </a:extLst>
          </p:cNvPr>
          <p:cNvSpPr txBox="1"/>
          <p:nvPr/>
        </p:nvSpPr>
        <p:spPr>
          <a:xfrm>
            <a:off x="7805057" y="4794263"/>
            <a:ext cx="4408714" cy="1200329"/>
          </a:xfrm>
          <a:prstGeom prst="rect">
            <a:avLst/>
          </a:prstGeom>
          <a:noFill/>
        </p:spPr>
        <p:txBody>
          <a:bodyPr wrap="square" rtlCol="0">
            <a:spAutoFit/>
          </a:bodyPr>
          <a:lstStyle/>
          <a:p>
            <a:r>
              <a:rPr lang="en-US" sz="2400" b="1" dirty="0">
                <a:solidFill>
                  <a:srgbClr val="FF0000"/>
                </a:solidFill>
              </a:rPr>
              <a:t>Presented By:</a:t>
            </a:r>
          </a:p>
          <a:p>
            <a:r>
              <a:rPr lang="en-US" sz="2400" b="1" dirty="0"/>
              <a:t>     Aravind </a:t>
            </a:r>
            <a:r>
              <a:rPr lang="en-US" sz="2400" b="1" dirty="0" err="1"/>
              <a:t>Racharla</a:t>
            </a:r>
            <a:endParaRPr lang="en-US" sz="2400" b="1" dirty="0"/>
          </a:p>
          <a:p>
            <a:r>
              <a:rPr lang="en-US" sz="2400" b="1" dirty="0"/>
              <a:t>     Shiva Shankar</a:t>
            </a:r>
            <a:endParaRPr lang="en-IN"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6510" rIns="0" bIns="0" rtlCol="0">
            <a:spAutoFit/>
          </a:bodyPr>
          <a:lstStyle/>
          <a:p>
            <a:pPr marL="229235">
              <a:lnSpc>
                <a:spcPct val="100000"/>
              </a:lnSpc>
              <a:spcBef>
                <a:spcPts val="130"/>
              </a:spcBef>
            </a:pPr>
            <a:r>
              <a:rPr spc="-10" dirty="0"/>
              <a:t>Agenda</a:t>
            </a:r>
          </a:p>
        </p:txBody>
      </p:sp>
      <p:sp>
        <p:nvSpPr>
          <p:cNvPr id="3" name="object 3"/>
          <p:cNvSpPr txBox="1"/>
          <p:nvPr/>
        </p:nvSpPr>
        <p:spPr>
          <a:xfrm>
            <a:off x="1446530" y="1382649"/>
            <a:ext cx="7468870" cy="3927998"/>
          </a:xfrm>
          <a:prstGeom prst="rect">
            <a:avLst/>
          </a:prstGeom>
        </p:spPr>
        <p:txBody>
          <a:bodyPr vert="horz" wrap="square" lIns="0" tIns="16510" rIns="0" bIns="0" rtlCol="0">
            <a:spAutoFit/>
          </a:bodyPr>
          <a:lstStyle/>
          <a:p>
            <a:pPr marL="297815" indent="-285115">
              <a:lnSpc>
                <a:spcPts val="3835"/>
              </a:lnSpc>
              <a:spcBef>
                <a:spcPts val="130"/>
              </a:spcBef>
              <a:buFont typeface="Arial"/>
              <a:buChar char="•"/>
              <a:tabLst>
                <a:tab pos="297815" algn="l"/>
              </a:tabLst>
            </a:pPr>
            <a:r>
              <a:rPr sz="3200" dirty="0">
                <a:latin typeface="Arial" panose="020B0604020202020204" pitchFamily="34" charset="0"/>
                <a:cs typeface="Arial" panose="020B0604020202020204" pitchFamily="34" charset="0"/>
              </a:rPr>
              <a:t>Project</a:t>
            </a:r>
            <a:r>
              <a:rPr sz="3200" spc="-100"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Overview</a:t>
            </a:r>
            <a:endParaRPr sz="3200" dirty="0">
              <a:latin typeface="Arial" panose="020B0604020202020204" pitchFamily="34" charset="0"/>
              <a:cs typeface="Arial" panose="020B0604020202020204" pitchFamily="34" charset="0"/>
            </a:endParaRPr>
          </a:p>
          <a:p>
            <a:pPr marL="297815" indent="-285115">
              <a:lnSpc>
                <a:spcPts val="3829"/>
              </a:lnSpc>
              <a:buFont typeface="Arial"/>
              <a:buChar char="•"/>
              <a:tabLst>
                <a:tab pos="297815" algn="l"/>
              </a:tabLst>
            </a:pPr>
            <a:r>
              <a:rPr sz="3200" dirty="0">
                <a:latin typeface="Arial" panose="020B0604020202020204" pitchFamily="34" charset="0"/>
                <a:cs typeface="Arial" panose="020B0604020202020204" pitchFamily="34" charset="0"/>
              </a:rPr>
              <a:t>Problem</a:t>
            </a:r>
            <a:r>
              <a:rPr sz="3200" spc="-105"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Statement</a:t>
            </a:r>
            <a:endParaRPr sz="3200" dirty="0">
              <a:latin typeface="Arial" panose="020B0604020202020204" pitchFamily="34" charset="0"/>
              <a:cs typeface="Arial" panose="020B0604020202020204" pitchFamily="34" charset="0"/>
            </a:endParaRPr>
          </a:p>
          <a:p>
            <a:pPr marL="297815" indent="-285115">
              <a:lnSpc>
                <a:spcPts val="3835"/>
              </a:lnSpc>
              <a:buFont typeface="Arial"/>
              <a:buChar char="•"/>
              <a:tabLst>
                <a:tab pos="297815" algn="l"/>
              </a:tabLst>
            </a:pPr>
            <a:r>
              <a:rPr sz="3200" dirty="0">
                <a:latin typeface="Arial" panose="020B0604020202020204" pitchFamily="34" charset="0"/>
                <a:cs typeface="Arial" panose="020B0604020202020204" pitchFamily="34" charset="0"/>
              </a:rPr>
              <a:t>Data</a:t>
            </a:r>
            <a:r>
              <a:rPr sz="3200" spc="-150"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Source</a:t>
            </a:r>
            <a:endParaRPr sz="3200" dirty="0">
              <a:latin typeface="Arial" panose="020B0604020202020204" pitchFamily="34" charset="0"/>
              <a:cs typeface="Arial" panose="020B0604020202020204" pitchFamily="34" charset="0"/>
            </a:endParaRPr>
          </a:p>
          <a:p>
            <a:pPr marL="297815" indent="-285115">
              <a:lnSpc>
                <a:spcPts val="3835"/>
              </a:lnSpc>
              <a:spcBef>
                <a:spcPts val="65"/>
              </a:spcBef>
              <a:buFont typeface="Arial"/>
              <a:buChar char="•"/>
              <a:tabLst>
                <a:tab pos="297815" algn="l"/>
              </a:tabLst>
            </a:pPr>
            <a:r>
              <a:rPr sz="3200" dirty="0">
                <a:latin typeface="Arial" panose="020B0604020202020204" pitchFamily="34" charset="0"/>
                <a:cs typeface="Arial" panose="020B0604020202020204" pitchFamily="34" charset="0"/>
              </a:rPr>
              <a:t>Data</a:t>
            </a:r>
            <a:r>
              <a:rPr sz="3200" spc="-150"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Preparation</a:t>
            </a:r>
            <a:endParaRPr sz="3200" dirty="0">
              <a:latin typeface="Arial" panose="020B0604020202020204" pitchFamily="34" charset="0"/>
              <a:cs typeface="Arial" panose="020B0604020202020204" pitchFamily="34" charset="0"/>
            </a:endParaRPr>
          </a:p>
          <a:p>
            <a:pPr marL="297815" indent="-285115">
              <a:lnSpc>
                <a:spcPts val="3829"/>
              </a:lnSpc>
              <a:buFont typeface="Arial"/>
              <a:buChar char="•"/>
              <a:tabLst>
                <a:tab pos="297815" algn="l"/>
              </a:tabLst>
            </a:pPr>
            <a:r>
              <a:rPr sz="3200" dirty="0">
                <a:latin typeface="Arial" panose="020B0604020202020204" pitchFamily="34" charset="0"/>
                <a:cs typeface="Arial" panose="020B0604020202020204" pitchFamily="34" charset="0"/>
              </a:rPr>
              <a:t>Dashboard</a:t>
            </a:r>
            <a:r>
              <a:rPr sz="3200" spc="-145"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Visualizations</a:t>
            </a:r>
            <a:endParaRPr sz="3200" dirty="0">
              <a:latin typeface="Arial" panose="020B0604020202020204" pitchFamily="34" charset="0"/>
              <a:cs typeface="Arial" panose="020B0604020202020204" pitchFamily="34" charset="0"/>
            </a:endParaRPr>
          </a:p>
          <a:p>
            <a:pPr marL="297815" indent="-285115">
              <a:lnSpc>
                <a:spcPts val="3829"/>
              </a:lnSpc>
              <a:buFont typeface="Arial"/>
              <a:buChar char="•"/>
              <a:tabLst>
                <a:tab pos="297815" algn="l"/>
              </a:tabLst>
            </a:pPr>
            <a:r>
              <a:rPr sz="3200" dirty="0">
                <a:latin typeface="Arial" panose="020B0604020202020204" pitchFamily="34" charset="0"/>
                <a:cs typeface="Arial" panose="020B0604020202020204" pitchFamily="34" charset="0"/>
              </a:rPr>
              <a:t>Applications</a:t>
            </a:r>
            <a:r>
              <a:rPr sz="3200" spc="-65"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&amp;</a:t>
            </a:r>
            <a:r>
              <a:rPr sz="3200" spc="-160"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Recommendations</a:t>
            </a:r>
            <a:endParaRPr sz="3200" dirty="0">
              <a:latin typeface="Arial" panose="020B0604020202020204" pitchFamily="34" charset="0"/>
              <a:cs typeface="Arial" panose="020B0604020202020204" pitchFamily="34" charset="0"/>
            </a:endParaRPr>
          </a:p>
          <a:p>
            <a:pPr marL="297815" indent="-285115">
              <a:lnSpc>
                <a:spcPts val="3829"/>
              </a:lnSpc>
              <a:buFont typeface="Arial"/>
              <a:buChar char="•"/>
              <a:tabLst>
                <a:tab pos="297815" algn="l"/>
              </a:tabLst>
            </a:pPr>
            <a:r>
              <a:rPr sz="3200" spc="-10" dirty="0">
                <a:latin typeface="Arial" panose="020B0604020202020204" pitchFamily="34" charset="0"/>
                <a:cs typeface="Arial" panose="020B0604020202020204" pitchFamily="34" charset="0"/>
              </a:rPr>
              <a:t>Conclusion</a:t>
            </a:r>
            <a:endParaRPr sz="3200" dirty="0">
              <a:latin typeface="Arial" panose="020B0604020202020204" pitchFamily="34" charset="0"/>
              <a:cs typeface="Arial" panose="020B0604020202020204" pitchFamily="34" charset="0"/>
            </a:endParaRPr>
          </a:p>
          <a:p>
            <a:pPr marL="297815" indent="-285115">
              <a:lnSpc>
                <a:spcPts val="3835"/>
              </a:lnSpc>
              <a:buFont typeface="Arial"/>
              <a:buChar char="•"/>
              <a:tabLst>
                <a:tab pos="297815" algn="l"/>
              </a:tabLst>
            </a:pPr>
            <a:r>
              <a:rPr sz="3200" dirty="0">
                <a:latin typeface="Arial" panose="020B0604020202020204" pitchFamily="34" charset="0"/>
                <a:cs typeface="Arial" panose="020B0604020202020204" pitchFamily="34" charset="0"/>
              </a:rPr>
              <a:t>Any</a:t>
            </a:r>
            <a:r>
              <a:rPr sz="3200" spc="-120"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Queries</a:t>
            </a:r>
            <a:endParaRPr sz="3200" dirty="0">
              <a:latin typeface="Arial" panose="020B0604020202020204" pitchFamily="34" charset="0"/>
              <a:cs typeface="Arial" panose="020B0604020202020204" pitchFamily="34" charset="0"/>
            </a:endParaRP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Business</a:t>
            </a:r>
            <a:r>
              <a:rPr spc="60" dirty="0"/>
              <a:t> </a:t>
            </a:r>
            <a:r>
              <a:rPr spc="-10" dirty="0"/>
              <a:t>Problem</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
        <p:nvSpPr>
          <p:cNvPr id="7" name="Rectangle 3">
            <a:extLst>
              <a:ext uri="{FF2B5EF4-FFF2-40B4-BE49-F238E27FC236}">
                <a16:creationId xmlns:a16="http://schemas.microsoft.com/office/drawing/2014/main" id="{00099F20-F7B8-D43B-9B82-FD05C446CD5B}"/>
              </a:ext>
            </a:extLst>
          </p:cNvPr>
          <p:cNvSpPr>
            <a:spLocks noChangeArrowheads="1"/>
          </p:cNvSpPr>
          <p:nvPr/>
        </p:nvSpPr>
        <p:spPr bwMode="auto">
          <a:xfrm>
            <a:off x="533399" y="1905506"/>
            <a:ext cx="1147082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lang="en-US" sz="2400" dirty="0"/>
              <a:t>The telecom company is facing increasing customer churn in recent quarters periods, causing revenue loss and reduced customer lifetime value. Although large volumes of customer data are available, the company lacks clear insights into the key factors driving churn and the most vulnerable customer segments. </a:t>
            </a:r>
          </a:p>
          <a:p>
            <a:pPr marR="0" lvl="0" algn="just" defTabSz="914400" rtl="0" eaLnBrk="0" fontAlgn="base" latinLnBrk="0" hangingPunct="0">
              <a:lnSpc>
                <a:spcPct val="100000"/>
              </a:lnSpc>
              <a:spcBef>
                <a:spcPct val="0"/>
              </a:spcBef>
              <a:spcAft>
                <a:spcPct val="0"/>
              </a:spcAft>
              <a:buClrTx/>
              <a:buSzTx/>
              <a:tabLst/>
            </a:pPr>
            <a:endParaRPr lang="en-US" sz="2400" dirty="0"/>
          </a:p>
          <a:p>
            <a:pPr marR="0" lvl="0" algn="just" defTabSz="914400" rtl="0" eaLnBrk="0" fontAlgn="base" latinLnBrk="0" hangingPunct="0">
              <a:lnSpc>
                <a:spcPct val="100000"/>
              </a:lnSpc>
              <a:spcBef>
                <a:spcPct val="0"/>
              </a:spcBef>
              <a:spcAft>
                <a:spcPct val="0"/>
              </a:spcAft>
              <a:buClrTx/>
              <a:buSzTx/>
              <a:tabLst/>
            </a:pPr>
            <a:r>
              <a:rPr lang="en-US" sz="2400" dirty="0"/>
              <a:t>Without actionable analytics, retention strategies remain ineffective. This project aims to identify churn drivers and high-risk customers using Power BI to support data-driven business decisions.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4D4F81-2567-F1DF-56B8-2D7AA9007328}"/>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57976E78-AAA7-CF54-8BAA-C31117C0EF53}"/>
              </a:ext>
            </a:extLst>
          </p:cNvPr>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lang="en-IN" dirty="0"/>
              <a:t>Project Objective</a:t>
            </a:r>
            <a:endParaRPr spc="-10" dirty="0"/>
          </a:p>
        </p:txBody>
      </p:sp>
      <p:pic>
        <p:nvPicPr>
          <p:cNvPr id="4" name="object 4" descr="Innomatics Research labs - Crunchbase Company Profile &amp; Funding">
            <a:extLst>
              <a:ext uri="{FF2B5EF4-FFF2-40B4-BE49-F238E27FC236}">
                <a16:creationId xmlns:a16="http://schemas.microsoft.com/office/drawing/2014/main" id="{C24E13E9-B7EE-8056-57EE-33D0DE636965}"/>
              </a:ext>
            </a:extLst>
          </p:cNvPr>
          <p:cNvPicPr/>
          <p:nvPr/>
        </p:nvPicPr>
        <p:blipFill>
          <a:blip r:embed="rId2" cstate="print"/>
          <a:stretch>
            <a:fillRect/>
          </a:stretch>
        </p:blipFill>
        <p:spPr>
          <a:xfrm>
            <a:off x="9648825" y="6257925"/>
            <a:ext cx="2333625" cy="428625"/>
          </a:xfrm>
          <a:prstGeom prst="rect">
            <a:avLst/>
          </a:prstGeom>
        </p:spPr>
      </p:pic>
      <p:sp>
        <p:nvSpPr>
          <p:cNvPr id="7" name="Rectangle 3">
            <a:extLst>
              <a:ext uri="{FF2B5EF4-FFF2-40B4-BE49-F238E27FC236}">
                <a16:creationId xmlns:a16="http://schemas.microsoft.com/office/drawing/2014/main" id="{AA278E8F-6933-331A-C5B5-CE062D954FA0}"/>
              </a:ext>
            </a:extLst>
          </p:cNvPr>
          <p:cNvSpPr>
            <a:spLocks noChangeArrowheads="1"/>
          </p:cNvSpPr>
          <p:nvPr/>
        </p:nvSpPr>
        <p:spPr bwMode="auto">
          <a:xfrm>
            <a:off x="609600" y="1630125"/>
            <a:ext cx="1147082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t>To analyze customer churn data and identify the key factors driving customer churn</a:t>
            </a:r>
          </a:p>
          <a:p>
            <a:pPr marR="0" lvl="0" algn="just" defTabSz="914400" rtl="0" eaLnBrk="0" fontAlgn="base" latinLnBrk="0" hangingPunct="0">
              <a:lnSpc>
                <a:spcPct val="100000"/>
              </a:lnSpc>
              <a:spcBef>
                <a:spcPct val="0"/>
              </a:spcBef>
              <a:spcAft>
                <a:spcPct val="0"/>
              </a:spcAft>
              <a:buClrTx/>
              <a:buSzTx/>
              <a:tabLst/>
            </a:pPr>
            <a:endParaRPr lang="en-US" sz="2400" dirty="0"/>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t>To identify high-risk customer segments likely to churn</a:t>
            </a:r>
          </a:p>
          <a:p>
            <a:pPr marR="0" lvl="0" algn="just" defTabSz="914400" rtl="0" eaLnBrk="0" fontAlgn="base" latinLnBrk="0" hangingPunct="0">
              <a:lnSpc>
                <a:spcPct val="100000"/>
              </a:lnSpc>
              <a:spcBef>
                <a:spcPct val="0"/>
              </a:spcBef>
              <a:spcAft>
                <a:spcPct val="0"/>
              </a:spcAft>
              <a:buClrTx/>
              <a:buSzTx/>
              <a:tabLst/>
            </a:pPr>
            <a:endParaRPr lang="en-US" sz="2400" dirty="0"/>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t>To evaluate the impact of demographics, service usage, contract types, and billing methods on churn</a:t>
            </a:r>
          </a:p>
          <a:p>
            <a:pPr marR="0" lvl="0" algn="just" defTabSz="914400" rtl="0" eaLnBrk="0" fontAlgn="base" latinLnBrk="0" hangingPunct="0">
              <a:lnSpc>
                <a:spcPct val="100000"/>
              </a:lnSpc>
              <a:spcBef>
                <a:spcPct val="0"/>
              </a:spcBef>
              <a:spcAft>
                <a:spcPct val="0"/>
              </a:spcAft>
              <a:buClrTx/>
              <a:buSzTx/>
              <a:tabLst/>
            </a:pPr>
            <a:endParaRPr lang="en-US" sz="2400" dirty="0"/>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t>To deliver actionable, data-driven insights through Power BI dashboards</a:t>
            </a:r>
          </a:p>
          <a:p>
            <a:pPr marR="0" lvl="0" algn="just" defTabSz="914400" rtl="0" eaLnBrk="0" fontAlgn="base" latinLnBrk="0" hangingPunct="0">
              <a:lnSpc>
                <a:spcPct val="100000"/>
              </a:lnSpc>
              <a:spcBef>
                <a:spcPct val="0"/>
              </a:spcBef>
              <a:spcAft>
                <a:spcPct val="0"/>
              </a:spcAft>
              <a:buClrTx/>
              <a:buSzTx/>
              <a:tabLst/>
            </a:pPr>
            <a:endParaRPr lang="en-US" sz="2400" dirty="0"/>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dirty="0"/>
              <a:t>To support effective customer retention strategies and reduce revenue loss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4930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6510" rIns="0" bIns="0" rtlCol="0">
            <a:spAutoFit/>
          </a:bodyPr>
          <a:lstStyle/>
          <a:p>
            <a:pPr>
              <a:lnSpc>
                <a:spcPct val="100000"/>
              </a:lnSpc>
              <a:spcBef>
                <a:spcPts val="130"/>
              </a:spcBef>
            </a:pPr>
            <a:r>
              <a:rPr dirty="0"/>
              <a:t>Project</a:t>
            </a:r>
            <a:r>
              <a:rPr spc="-45" dirty="0"/>
              <a:t> </a:t>
            </a:r>
            <a:r>
              <a:rPr spc="-10" dirty="0"/>
              <a:t>Overview</a:t>
            </a:r>
          </a:p>
        </p:txBody>
      </p:sp>
      <p:pic>
        <p:nvPicPr>
          <p:cNvPr id="4" name="object 4" descr="Innomatics Research labs - Crunchbase Company Profile &amp; Funding"/>
          <p:cNvPicPr/>
          <p:nvPr/>
        </p:nvPicPr>
        <p:blipFill>
          <a:blip r:embed="rId2" cstate="print"/>
          <a:stretch>
            <a:fillRect/>
          </a:stretch>
        </p:blipFill>
        <p:spPr>
          <a:xfrm>
            <a:off x="9648825" y="6276975"/>
            <a:ext cx="2333625" cy="428625"/>
          </a:xfrm>
          <a:prstGeom prst="rect">
            <a:avLst/>
          </a:prstGeom>
        </p:spPr>
      </p:pic>
      <p:sp>
        <p:nvSpPr>
          <p:cNvPr id="8" name="Rectangle 4">
            <a:extLst>
              <a:ext uri="{FF2B5EF4-FFF2-40B4-BE49-F238E27FC236}">
                <a16:creationId xmlns:a16="http://schemas.microsoft.com/office/drawing/2014/main" id="{8B97FA0D-862C-A59F-C484-4D2DEB911E1F}"/>
              </a:ext>
            </a:extLst>
          </p:cNvPr>
          <p:cNvSpPr>
            <a:spLocks noChangeArrowheads="1"/>
          </p:cNvSpPr>
          <p:nvPr/>
        </p:nvSpPr>
        <p:spPr bwMode="auto">
          <a:xfrm>
            <a:off x="691832" y="1538784"/>
            <a:ext cx="1096676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This project focuses on </a:t>
            </a:r>
            <a:r>
              <a:rPr kumimoji="0" lang="en-US" altLang="en-US" sz="2400" b="1" i="0" u="none" strike="noStrike" cap="none" normalizeH="0" baseline="0" dirty="0">
                <a:ln>
                  <a:noFill/>
                </a:ln>
                <a:solidFill>
                  <a:schemeClr val="tx1"/>
                </a:solidFill>
                <a:effectLst/>
                <a:latin typeface="Arial" panose="020B0604020202020204" pitchFamily="34" charset="0"/>
              </a:rPr>
              <a:t>Customer Churn Analysis</a:t>
            </a:r>
            <a:r>
              <a:rPr kumimoji="0" lang="en-US" altLang="en-US" sz="2400" b="0" i="0" u="none" strike="noStrike" cap="none" normalizeH="0" baseline="0" dirty="0">
                <a:ln>
                  <a:noFill/>
                </a:ln>
                <a:solidFill>
                  <a:schemeClr val="tx1"/>
                </a:solidFill>
                <a:effectLst/>
                <a:latin typeface="Arial" panose="020B0604020202020204" pitchFamily="34" charset="0"/>
              </a:rPr>
              <a:t> using customer demographics, service usage, billing, and contract-related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objective is to identify </a:t>
            </a:r>
            <a:r>
              <a:rPr kumimoji="0" lang="en-US" altLang="en-US" sz="2400" b="1" i="0" u="none" strike="noStrike" cap="none" normalizeH="0" baseline="0" dirty="0">
                <a:ln>
                  <a:noFill/>
                </a:ln>
                <a:solidFill>
                  <a:schemeClr val="tx1"/>
                </a:solidFill>
                <a:effectLst/>
                <a:latin typeface="Arial" panose="020B0604020202020204" pitchFamily="34" charset="0"/>
              </a:rPr>
              <a:t>churn patterns</a:t>
            </a:r>
            <a:r>
              <a:rPr kumimoji="0" lang="en-US" altLang="en-US" sz="2400" b="0" i="0" u="none" strike="noStrike" cap="none" normalizeH="0" baseline="0" dirty="0">
                <a:ln>
                  <a:noFill/>
                </a:ln>
                <a:solidFill>
                  <a:schemeClr val="tx1"/>
                </a:solidFill>
                <a:effectLst/>
                <a:latin typeface="Arial" panose="020B0604020202020204" pitchFamily="34" charset="0"/>
              </a:rPr>
              <a:t>, understand </a:t>
            </a:r>
            <a:r>
              <a:rPr kumimoji="0" lang="en-US" altLang="en-US" sz="2400" b="1" i="0" u="none" strike="noStrike" cap="none" normalizeH="0" baseline="0" dirty="0">
                <a:ln>
                  <a:noFill/>
                </a:ln>
                <a:solidFill>
                  <a:schemeClr val="tx1"/>
                </a:solidFill>
                <a:effectLst/>
                <a:latin typeface="Arial" panose="020B0604020202020204" pitchFamily="34" charset="0"/>
              </a:rPr>
              <a:t>key drivers of churn</a:t>
            </a:r>
            <a:r>
              <a:rPr kumimoji="0" lang="en-US" altLang="en-US" sz="2400" b="0" i="0" u="none" strike="noStrike" cap="none" normalizeH="0" baseline="0" dirty="0">
                <a:ln>
                  <a:noFill/>
                </a:ln>
                <a:solidFill>
                  <a:schemeClr val="tx1"/>
                </a:solidFill>
                <a:effectLst/>
                <a:latin typeface="Arial" panose="020B0604020202020204" pitchFamily="34" charset="0"/>
              </a:rPr>
              <a:t>, and analyze </a:t>
            </a:r>
            <a:r>
              <a:rPr kumimoji="0" lang="en-US" altLang="en-US" sz="2400" b="1" i="0" u="none" strike="noStrike" cap="none" normalizeH="0" baseline="0" dirty="0">
                <a:ln>
                  <a:noFill/>
                </a:ln>
                <a:solidFill>
                  <a:schemeClr val="tx1"/>
                </a:solidFill>
                <a:effectLst/>
                <a:latin typeface="Arial" panose="020B0604020202020204" pitchFamily="34" charset="0"/>
              </a:rPr>
              <a:t>customer behavior</a:t>
            </a:r>
            <a:r>
              <a:rPr kumimoji="0" lang="en-US" altLang="en-US" sz="2400" b="0" i="0" u="none" strike="noStrike" cap="none" normalizeH="0" baseline="0" dirty="0">
                <a:ln>
                  <a:noFill/>
                </a:ln>
                <a:solidFill>
                  <a:schemeClr val="tx1"/>
                </a:solidFill>
                <a:effectLst/>
                <a:latin typeface="Arial" panose="020B0604020202020204" pitchFamily="34" charset="0"/>
              </a:rPr>
              <a:t> across different segments.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Interactive Power BI dashboards were created to visualize churn rate, tenure patterns, service subscriptions, and billing insights.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analysis helps businesses identify </a:t>
            </a:r>
            <a:r>
              <a:rPr kumimoji="0" lang="en-US" altLang="en-US" sz="2400" b="1" i="0" u="none" strike="noStrike" cap="none" normalizeH="0" baseline="0" dirty="0">
                <a:ln>
                  <a:noFill/>
                </a:ln>
                <a:solidFill>
                  <a:schemeClr val="tx1"/>
                </a:solidFill>
                <a:effectLst/>
                <a:latin typeface="Arial" panose="020B0604020202020204" pitchFamily="34" charset="0"/>
              </a:rPr>
              <a:t>high-risk customers</a:t>
            </a:r>
            <a:r>
              <a:rPr kumimoji="0" lang="en-US" altLang="en-US" sz="2400" b="0" i="0" u="none" strike="noStrike" cap="none" normalizeH="0" baseline="0" dirty="0">
                <a:ln>
                  <a:noFill/>
                </a:ln>
                <a:solidFill>
                  <a:schemeClr val="tx1"/>
                </a:solidFill>
                <a:effectLst/>
                <a:latin typeface="Arial" panose="020B0604020202020204" pitchFamily="34" charset="0"/>
              </a:rPr>
              <a:t> and design effective </a:t>
            </a:r>
            <a:r>
              <a:rPr kumimoji="0" lang="en-US" altLang="en-US" sz="2400" b="1" i="0" u="none" strike="noStrike" cap="none" normalizeH="0" baseline="0" dirty="0">
                <a:ln>
                  <a:noFill/>
                </a:ln>
                <a:solidFill>
                  <a:schemeClr val="tx1"/>
                </a:solidFill>
                <a:effectLst/>
                <a:latin typeface="Arial" panose="020B0604020202020204" pitchFamily="34" charset="0"/>
              </a:rPr>
              <a:t>retention strategies</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00" y="305688"/>
            <a:ext cx="3809365" cy="632460"/>
          </a:xfrm>
          <a:prstGeom prst="rect">
            <a:avLst/>
          </a:prstGeom>
        </p:spPr>
        <p:txBody>
          <a:bodyPr vert="horz" wrap="square" lIns="0" tIns="16510" rIns="0" bIns="0" rtlCol="0">
            <a:spAutoFit/>
          </a:bodyPr>
          <a:lstStyle/>
          <a:p>
            <a:pPr marL="12700">
              <a:lnSpc>
                <a:spcPct val="100000"/>
              </a:lnSpc>
              <a:spcBef>
                <a:spcPts val="130"/>
              </a:spcBef>
            </a:pPr>
            <a:r>
              <a:rPr dirty="0"/>
              <a:t>Data</a:t>
            </a:r>
            <a:r>
              <a:rPr spc="40" dirty="0"/>
              <a:t> </a:t>
            </a:r>
            <a:r>
              <a:rPr spc="-10" dirty="0"/>
              <a:t>Preparation</a:t>
            </a:r>
          </a:p>
        </p:txBody>
      </p:sp>
      <p:pic>
        <p:nvPicPr>
          <p:cNvPr id="4" name="object 4" descr="Innomatics Research labs - Crunchbase Company Profile &amp; Funding"/>
          <p:cNvPicPr/>
          <p:nvPr/>
        </p:nvPicPr>
        <p:blipFill>
          <a:blip r:embed="rId2" cstate="print"/>
          <a:stretch>
            <a:fillRect/>
          </a:stretch>
        </p:blipFill>
        <p:spPr>
          <a:xfrm>
            <a:off x="9648825" y="6267450"/>
            <a:ext cx="2333625" cy="428625"/>
          </a:xfrm>
          <a:prstGeom prst="rect">
            <a:avLst/>
          </a:prstGeom>
        </p:spPr>
      </p:pic>
      <p:sp>
        <p:nvSpPr>
          <p:cNvPr id="5" name="Rectangle 1">
            <a:extLst>
              <a:ext uri="{FF2B5EF4-FFF2-40B4-BE49-F238E27FC236}">
                <a16:creationId xmlns:a16="http://schemas.microsoft.com/office/drawing/2014/main" id="{FEF484E3-C850-3101-54E9-1F8F1EAB657B}"/>
              </a:ext>
            </a:extLst>
          </p:cNvPr>
          <p:cNvSpPr>
            <a:spLocks noChangeArrowheads="1"/>
          </p:cNvSpPr>
          <p:nvPr/>
        </p:nvSpPr>
        <p:spPr bwMode="auto">
          <a:xfrm>
            <a:off x="620486" y="1004471"/>
            <a:ext cx="10972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Imported the dataset into Power BI and performed data cleaning.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Handled missing values and corrected data types for numeric and categorical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Created </a:t>
            </a:r>
            <a:r>
              <a:rPr kumimoji="0" lang="en-US" altLang="en-US" sz="2400" b="1" i="0" u="none" strike="noStrike" cap="none" normalizeH="0" baseline="0" dirty="0">
                <a:ln>
                  <a:noFill/>
                </a:ln>
                <a:solidFill>
                  <a:schemeClr val="tx1"/>
                </a:solidFill>
                <a:effectLst/>
                <a:latin typeface="Arial" panose="020B0604020202020204" pitchFamily="34" charset="0"/>
              </a:rPr>
              <a:t>Tenure Groups</a:t>
            </a:r>
            <a:r>
              <a:rPr kumimoji="0" lang="en-US" altLang="en-US" sz="2400" b="0" i="0" u="none" strike="noStrike" cap="none" normalizeH="0" baseline="0" dirty="0">
                <a:ln>
                  <a:noFill/>
                </a:ln>
                <a:solidFill>
                  <a:schemeClr val="tx1"/>
                </a:solidFill>
                <a:effectLst/>
                <a:latin typeface="Arial" panose="020B0604020202020204" pitchFamily="34" charset="0"/>
              </a:rPr>
              <a:t> (&lt;1 Year, 1–2 Years, 2–3 Years, etc.) for better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Calculated key measures such as: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Total Customers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Churned Customers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Churn Rate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Average Monthly Charges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Average Tenure</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Applied data validation using cards and tables before building dashboards.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641BFB-1F93-30C7-F493-9448FB7AF4E0}"/>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F6165D1D-40C9-5AB0-C8AD-DD4578E58C2C}"/>
              </a:ext>
            </a:extLst>
          </p:cNvPr>
          <p:cNvSpPr txBox="1">
            <a:spLocks noGrp="1"/>
          </p:cNvSpPr>
          <p:nvPr>
            <p:ph type="title"/>
          </p:nvPr>
        </p:nvSpPr>
        <p:spPr>
          <a:xfrm>
            <a:off x="609600" y="305688"/>
            <a:ext cx="4495800" cy="570669"/>
          </a:xfrm>
          <a:prstGeom prst="rect">
            <a:avLst/>
          </a:prstGeom>
        </p:spPr>
        <p:txBody>
          <a:bodyPr vert="horz" wrap="square" lIns="0" tIns="16510" rIns="0" bIns="0" rtlCol="0">
            <a:spAutoFit/>
          </a:bodyPr>
          <a:lstStyle/>
          <a:p>
            <a:pPr marL="12700">
              <a:lnSpc>
                <a:spcPct val="100000"/>
              </a:lnSpc>
              <a:spcBef>
                <a:spcPts val="130"/>
              </a:spcBef>
            </a:pPr>
            <a:r>
              <a:rPr lang="en-IN" sz="3600" dirty="0"/>
              <a:t>Dashboard Overview</a:t>
            </a:r>
            <a:endParaRPr sz="3600" spc="-10" dirty="0"/>
          </a:p>
        </p:txBody>
      </p:sp>
      <p:pic>
        <p:nvPicPr>
          <p:cNvPr id="4" name="object 4" descr="Innomatics Research labs - Crunchbase Company Profile &amp; Funding">
            <a:extLst>
              <a:ext uri="{FF2B5EF4-FFF2-40B4-BE49-F238E27FC236}">
                <a16:creationId xmlns:a16="http://schemas.microsoft.com/office/drawing/2014/main" id="{75838DBA-48AE-8793-CA8A-9C7AF9D42543}"/>
              </a:ext>
            </a:extLst>
          </p:cNvPr>
          <p:cNvPicPr/>
          <p:nvPr/>
        </p:nvPicPr>
        <p:blipFill>
          <a:blip r:embed="rId2" cstate="print"/>
          <a:stretch>
            <a:fillRect/>
          </a:stretch>
        </p:blipFill>
        <p:spPr>
          <a:xfrm>
            <a:off x="9648825" y="6267450"/>
            <a:ext cx="2333625" cy="428625"/>
          </a:xfrm>
          <a:prstGeom prst="rect">
            <a:avLst/>
          </a:prstGeom>
        </p:spPr>
      </p:pic>
      <p:sp>
        <p:nvSpPr>
          <p:cNvPr id="6" name="Rectangle 2">
            <a:extLst>
              <a:ext uri="{FF2B5EF4-FFF2-40B4-BE49-F238E27FC236}">
                <a16:creationId xmlns:a16="http://schemas.microsoft.com/office/drawing/2014/main" id="{E9DFD0EF-DE55-E2DA-771C-3E641A47619E}"/>
              </a:ext>
            </a:extLst>
          </p:cNvPr>
          <p:cNvSpPr>
            <a:spLocks noChangeArrowheads="1"/>
          </p:cNvSpPr>
          <p:nvPr/>
        </p:nvSpPr>
        <p:spPr bwMode="auto">
          <a:xfrm>
            <a:off x="685800" y="1606287"/>
            <a:ext cx="11125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The Power BI report consists of four main dashboards: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Customer Demographics Analysis</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chemeClr val="tx1"/>
                </a:solidFill>
                <a:effectLst/>
                <a:latin typeface="Arial" panose="020B0604020202020204" pitchFamily="34" charset="0"/>
              </a:rPr>
              <a:t>Service Subscription Analysis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Arial" panose="020B0604020202020204" pitchFamily="34" charset="0"/>
              </a:rPr>
              <a:t>Contract &amp; Billing Insights</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chemeClr val="tx1"/>
                </a:solidFill>
                <a:effectLst/>
                <a:latin typeface="Arial" panose="020B0604020202020204" pitchFamily="34" charset="0"/>
              </a:rPr>
              <a:t>Churn Prediction &amp; Key Drivers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Each dashboard includes interactive slicers for contract type, gender, senior citizen status, and internet service.</a:t>
            </a:r>
          </a:p>
        </p:txBody>
      </p:sp>
    </p:spTree>
    <p:extLst>
      <p:ext uri="{BB962C8B-B14F-4D97-AF65-F5344CB8AC3E}">
        <p14:creationId xmlns:p14="http://schemas.microsoft.com/office/powerpoint/2010/main" val="3167986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7A8DD5-D81B-DB2E-5B7F-8AED6F29C4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56" y="0"/>
            <a:ext cx="12159343"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54672" y="416877"/>
            <a:ext cx="7979728" cy="624530"/>
          </a:xfrm>
          <a:prstGeom prst="rect">
            <a:avLst/>
          </a:prstGeom>
        </p:spPr>
        <p:txBody>
          <a:bodyPr vert="horz" wrap="square" lIns="0" tIns="16510" rIns="0" bIns="0" rtlCol="0">
            <a:spAutoFit/>
          </a:bodyPr>
          <a:lstStyle/>
          <a:p>
            <a:pPr marL="12700">
              <a:lnSpc>
                <a:spcPct val="100000"/>
              </a:lnSpc>
              <a:spcBef>
                <a:spcPts val="130"/>
              </a:spcBef>
            </a:pPr>
            <a:r>
              <a:rPr lang="en-IN" dirty="0"/>
              <a:t>Customer Demographics Analysis</a:t>
            </a:r>
            <a:endParaRPr spc="-10" dirty="0"/>
          </a:p>
        </p:txBody>
      </p:sp>
      <p:sp>
        <p:nvSpPr>
          <p:cNvPr id="3" name="object 3"/>
          <p:cNvSpPr txBox="1">
            <a:spLocks noGrp="1"/>
          </p:cNvSpPr>
          <p:nvPr>
            <p:ph type="body" idx="1"/>
          </p:nvPr>
        </p:nvSpPr>
        <p:spPr>
          <a:xfrm>
            <a:off x="304800" y="1398727"/>
            <a:ext cx="10646728" cy="5297348"/>
          </a:xfrm>
          <a:prstGeom prst="rect">
            <a:avLst/>
          </a:prstGeom>
        </p:spPr>
        <p:txBody>
          <a:bodyPr vert="horz" wrap="square" lIns="0" tIns="13335" rIns="0" bIns="0" rtlCol="0">
            <a:spAutoFit/>
          </a:bodyPr>
          <a:lstStyle/>
          <a:p>
            <a:r>
              <a:rPr lang="en-IN" sz="2000" u="sng" dirty="0">
                <a:solidFill>
                  <a:schemeClr val="accent3"/>
                </a:solidFill>
              </a:rPr>
              <a:t>KPI Cards:</a:t>
            </a:r>
          </a:p>
          <a:p>
            <a:pPr marL="342900" indent="-342900">
              <a:buFont typeface="Wingdings" panose="05000000000000000000" pitchFamily="2" charset="2"/>
              <a:buChar char="Ø"/>
            </a:pPr>
            <a:r>
              <a:rPr lang="en-IN" sz="2000" dirty="0"/>
              <a:t>Total Customers → 7032</a:t>
            </a:r>
          </a:p>
          <a:p>
            <a:pPr marL="342900" indent="-342900">
              <a:buFont typeface="Wingdings" panose="05000000000000000000" pitchFamily="2" charset="2"/>
              <a:buChar char="Ø"/>
            </a:pPr>
            <a:r>
              <a:rPr lang="en-IN" sz="2000" dirty="0"/>
              <a:t>Churn Customers → 1869</a:t>
            </a:r>
          </a:p>
          <a:p>
            <a:pPr marL="342900" indent="-342900">
              <a:buFont typeface="Wingdings" panose="05000000000000000000" pitchFamily="2" charset="2"/>
              <a:buChar char="Ø"/>
            </a:pPr>
            <a:r>
              <a:rPr lang="en-IN" sz="2000" dirty="0"/>
              <a:t>Churn Rate → 27%</a:t>
            </a:r>
          </a:p>
          <a:p>
            <a:pPr marL="342900" indent="-342900">
              <a:buFont typeface="Wingdings" panose="05000000000000000000" pitchFamily="2" charset="2"/>
              <a:buChar char="Ø"/>
            </a:pPr>
            <a:r>
              <a:rPr lang="en-IN" sz="2000" dirty="0" err="1"/>
              <a:t>Avg</a:t>
            </a:r>
            <a:r>
              <a:rPr lang="en-IN" sz="2000" dirty="0"/>
              <a:t> Monthly Charge → 64.80</a:t>
            </a:r>
          </a:p>
          <a:p>
            <a:pPr marL="342900" indent="-342900">
              <a:buFont typeface="Wingdings" panose="05000000000000000000" pitchFamily="2" charset="2"/>
              <a:buChar char="Ø"/>
            </a:pPr>
            <a:r>
              <a:rPr lang="en-IN" sz="2000" dirty="0" err="1"/>
              <a:t>Avg</a:t>
            </a:r>
            <a:r>
              <a:rPr lang="en-IN" sz="2000" dirty="0"/>
              <a:t> Tenure → 32.42</a:t>
            </a:r>
          </a:p>
          <a:p>
            <a:r>
              <a:rPr lang="en-IN" sz="2000" u="sng" dirty="0">
                <a:solidFill>
                  <a:schemeClr val="accent3"/>
                </a:solidFill>
              </a:rPr>
              <a:t>Charts &amp; Visuals:</a:t>
            </a:r>
          </a:p>
          <a:p>
            <a:pPr marL="342900" indent="-342900">
              <a:buFont typeface="Wingdings" panose="05000000000000000000" pitchFamily="2" charset="2"/>
              <a:buChar char="Ø"/>
            </a:pPr>
            <a:r>
              <a:rPr lang="en-IN" sz="2000" dirty="0"/>
              <a:t>Donut Chart → Total Customers by Gender</a:t>
            </a:r>
          </a:p>
          <a:p>
            <a:pPr marL="342900" indent="-342900">
              <a:buFont typeface="Wingdings" panose="05000000000000000000" pitchFamily="2" charset="2"/>
              <a:buChar char="Ø"/>
            </a:pPr>
            <a:r>
              <a:rPr lang="en-IN" sz="2000" dirty="0"/>
              <a:t>Clustered Column Chart → </a:t>
            </a:r>
            <a:r>
              <a:rPr lang="en-IN" sz="2000" dirty="0" err="1"/>
              <a:t>Avg</a:t>
            </a:r>
            <a:r>
              <a:rPr lang="en-IN" sz="2000" dirty="0"/>
              <a:t> Tenure &amp; </a:t>
            </a:r>
            <a:r>
              <a:rPr lang="en-IN" sz="2000" dirty="0" err="1"/>
              <a:t>Avg</a:t>
            </a:r>
            <a:r>
              <a:rPr lang="en-IN" sz="2000" dirty="0"/>
              <a:t> Monthly Charge by Gender</a:t>
            </a:r>
          </a:p>
          <a:p>
            <a:pPr marL="342900" indent="-342900">
              <a:buFont typeface="Wingdings" panose="05000000000000000000" pitchFamily="2" charset="2"/>
              <a:buChar char="Ø"/>
            </a:pPr>
            <a:r>
              <a:rPr lang="en-IN" sz="2000" dirty="0"/>
              <a:t>Bar Chart → Churn Rate by Tenure Group</a:t>
            </a:r>
          </a:p>
          <a:p>
            <a:pPr marL="342900" indent="-342900">
              <a:buFont typeface="Wingdings" panose="05000000000000000000" pitchFamily="2" charset="2"/>
              <a:buChar char="Ø"/>
            </a:pPr>
            <a:r>
              <a:rPr lang="en-IN" sz="2000" dirty="0"/>
              <a:t>Line Chart → </a:t>
            </a:r>
            <a:r>
              <a:rPr lang="en-IN" sz="2000" dirty="0" err="1"/>
              <a:t>Avg</a:t>
            </a:r>
            <a:r>
              <a:rPr lang="en-IN" sz="2000" dirty="0"/>
              <a:t> Monthly Charge by Tenure Group</a:t>
            </a:r>
          </a:p>
          <a:p>
            <a:pPr marL="342900" indent="-342900">
              <a:buFont typeface="Wingdings" panose="05000000000000000000" pitchFamily="2" charset="2"/>
              <a:buChar char="Ø"/>
            </a:pPr>
            <a:r>
              <a:rPr lang="en-IN" sz="2000" dirty="0"/>
              <a:t>Stacked Column Chart → Total Customers by </a:t>
            </a:r>
            <a:r>
              <a:rPr lang="en-IN" sz="2000" dirty="0" err="1"/>
              <a:t>SeniorCitizen</a:t>
            </a:r>
            <a:r>
              <a:rPr lang="en-IN" sz="2000" dirty="0"/>
              <a:t> and Churn</a:t>
            </a:r>
          </a:p>
          <a:p>
            <a:pPr marL="342900" indent="-342900">
              <a:buFont typeface="Wingdings" panose="05000000000000000000" pitchFamily="2" charset="2"/>
              <a:buChar char="Ø"/>
            </a:pPr>
            <a:r>
              <a:rPr lang="en-IN" sz="2000" dirty="0"/>
              <a:t>Column Chart → Total Customers by Tenure Group</a:t>
            </a:r>
          </a:p>
          <a:p>
            <a:r>
              <a:rPr lang="en-IN" sz="2000" u="sng" dirty="0">
                <a:solidFill>
                  <a:schemeClr val="accent3"/>
                </a:solidFill>
              </a:rPr>
              <a:t>Slicers:</a:t>
            </a:r>
          </a:p>
          <a:p>
            <a:pPr marL="342900" indent="-342900">
              <a:buFont typeface="Wingdings" panose="05000000000000000000" pitchFamily="2" charset="2"/>
              <a:buChar char="Ø"/>
            </a:pPr>
            <a:r>
              <a:rPr lang="en-IN" sz="2000" dirty="0"/>
              <a:t>Contract</a:t>
            </a:r>
          </a:p>
          <a:p>
            <a:pPr marL="342900" indent="-342900">
              <a:buFont typeface="Wingdings" panose="05000000000000000000" pitchFamily="2" charset="2"/>
              <a:buChar char="Ø"/>
            </a:pPr>
            <a:r>
              <a:rPr lang="en-IN" sz="2000" dirty="0"/>
              <a:t>Gender</a:t>
            </a:r>
          </a:p>
          <a:p>
            <a:pPr marL="177165">
              <a:lnSpc>
                <a:spcPts val="2870"/>
              </a:lnSpc>
              <a:spcBef>
                <a:spcPts val="105"/>
              </a:spcBef>
              <a:tabLst>
                <a:tab pos="462280" algn="l"/>
                <a:tab pos="4957445" algn="l"/>
              </a:tabLst>
            </a:pPr>
            <a:endParaRPr sz="2000" spc="-10" dirty="0"/>
          </a:p>
        </p:txBody>
      </p:sp>
      <p:pic>
        <p:nvPicPr>
          <p:cNvPr id="4" name="object 4" descr="Innomatics Research labs - Crunchbase Company Profile &amp; Funding"/>
          <p:cNvPicPr/>
          <p:nvPr/>
        </p:nvPicPr>
        <p:blipFill>
          <a:blip r:embed="rId2" cstate="print"/>
          <a:stretch>
            <a:fillRect/>
          </a:stretch>
        </p:blipFill>
        <p:spPr>
          <a:xfrm>
            <a:off x="9648825" y="6267450"/>
            <a:ext cx="2333625" cy="428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760A81-B70E-EFCA-199B-4CFFA6095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0886"/>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4516" y="304800"/>
            <a:ext cx="10808335" cy="632460"/>
          </a:xfrm>
          <a:prstGeom prst="rect">
            <a:avLst/>
          </a:prstGeom>
        </p:spPr>
        <p:txBody>
          <a:bodyPr vert="horz" wrap="square" lIns="0" tIns="16510" rIns="0" bIns="0" rtlCol="0">
            <a:spAutoFit/>
          </a:bodyPr>
          <a:lstStyle/>
          <a:p>
            <a:pPr marL="113030">
              <a:lnSpc>
                <a:spcPct val="100000"/>
              </a:lnSpc>
              <a:spcBef>
                <a:spcPts val="130"/>
              </a:spcBef>
            </a:pPr>
            <a:r>
              <a:rPr lang="en-IN" dirty="0"/>
              <a:t>Service Subscription Analysis</a:t>
            </a:r>
            <a:endParaRPr spc="-10" dirty="0"/>
          </a:p>
        </p:txBody>
      </p:sp>
      <p:sp>
        <p:nvSpPr>
          <p:cNvPr id="3" name="object 3"/>
          <p:cNvSpPr txBox="1"/>
          <p:nvPr/>
        </p:nvSpPr>
        <p:spPr>
          <a:xfrm>
            <a:off x="541859" y="1122221"/>
            <a:ext cx="11042966" cy="5553443"/>
          </a:xfrm>
          <a:prstGeom prst="rect">
            <a:avLst/>
          </a:prstGeom>
        </p:spPr>
        <p:txBody>
          <a:bodyPr vert="horz" wrap="square" lIns="0" tIns="13335" rIns="0" bIns="0" rtlCol="0">
            <a:spAutoFit/>
          </a:bodyPr>
          <a:lstStyle/>
          <a:p>
            <a:r>
              <a:rPr lang="en-US" sz="2400" b="1" u="sng" dirty="0">
                <a:solidFill>
                  <a:schemeClr val="accent3"/>
                </a:solidFill>
              </a:rPr>
              <a:t>KPI Cards:</a:t>
            </a:r>
          </a:p>
          <a:p>
            <a:pPr marL="342900" indent="-342900">
              <a:buFont typeface="Arial" panose="020B0604020202020204" pitchFamily="34" charset="0"/>
              <a:buChar char="•"/>
            </a:pPr>
            <a:r>
              <a:rPr lang="en-US" sz="2400" b="1" dirty="0"/>
              <a:t>Total Customers</a:t>
            </a:r>
            <a:endParaRPr lang="en-US" sz="2400" dirty="0"/>
          </a:p>
          <a:p>
            <a:pPr marL="342900" indent="-342900">
              <a:buFont typeface="Arial" panose="020B0604020202020204" pitchFamily="34" charset="0"/>
              <a:buChar char="•"/>
            </a:pPr>
            <a:r>
              <a:rPr lang="en-US" sz="2400" b="1" dirty="0"/>
              <a:t>Churn Rate</a:t>
            </a:r>
            <a:endParaRPr lang="en-US" sz="2400" dirty="0"/>
          </a:p>
          <a:p>
            <a:r>
              <a:rPr lang="en-US" sz="2400" b="1" u="sng" dirty="0">
                <a:solidFill>
                  <a:schemeClr val="accent3"/>
                </a:solidFill>
              </a:rPr>
              <a:t>Charts &amp; Visuals:</a:t>
            </a:r>
          </a:p>
          <a:p>
            <a:pPr marL="342900" indent="-342900">
              <a:buFont typeface="Arial" panose="020B0604020202020204" pitchFamily="34" charset="0"/>
              <a:buChar char="•"/>
            </a:pPr>
            <a:r>
              <a:rPr lang="en-US" sz="2400" b="1" dirty="0"/>
              <a:t>Table Visual</a:t>
            </a:r>
            <a:r>
              <a:rPr lang="en-US" sz="2400" dirty="0"/>
              <a:t> → Internet Service vs Add-on Services</a:t>
            </a:r>
            <a:br>
              <a:rPr lang="en-US" sz="2400" dirty="0"/>
            </a:br>
            <a:r>
              <a:rPr lang="en-US" sz="2400" dirty="0"/>
              <a:t>(Online Security, Backup, Device Protection, Tech Support)</a:t>
            </a:r>
          </a:p>
          <a:p>
            <a:pPr marL="342900" indent="-342900">
              <a:buFont typeface="Arial" panose="020B0604020202020204" pitchFamily="34" charset="0"/>
              <a:buChar char="•"/>
            </a:pPr>
            <a:r>
              <a:rPr lang="en-US" sz="2400" b="1" dirty="0"/>
              <a:t>Bar Chart</a:t>
            </a:r>
            <a:r>
              <a:rPr lang="en-US" sz="2400" dirty="0"/>
              <a:t> → Churn Rate by </a:t>
            </a:r>
            <a:r>
              <a:rPr lang="en-US" sz="2400" b="1" dirty="0"/>
              <a:t>Internet Service</a:t>
            </a:r>
            <a:endParaRPr lang="en-US" sz="2400" dirty="0"/>
          </a:p>
          <a:p>
            <a:pPr marL="342900" indent="-342900">
              <a:buFont typeface="Arial" panose="020B0604020202020204" pitchFamily="34" charset="0"/>
              <a:buChar char="•"/>
            </a:pPr>
            <a:r>
              <a:rPr lang="en-US" sz="2400" b="1" dirty="0"/>
              <a:t>Line Chart</a:t>
            </a:r>
            <a:r>
              <a:rPr lang="en-US" sz="2400" dirty="0"/>
              <a:t> → Churn Rate by </a:t>
            </a:r>
            <a:r>
              <a:rPr lang="en-US" sz="2400" b="1" dirty="0"/>
              <a:t>Number of Services</a:t>
            </a:r>
            <a:endParaRPr lang="en-US" sz="2400" dirty="0"/>
          </a:p>
          <a:p>
            <a:pPr marL="342900" indent="-342900">
              <a:buFont typeface="Arial" panose="020B0604020202020204" pitchFamily="34" charset="0"/>
              <a:buChar char="•"/>
            </a:pPr>
            <a:r>
              <a:rPr lang="en-US" sz="2400" b="1" dirty="0"/>
              <a:t>Donut Chart</a:t>
            </a:r>
            <a:r>
              <a:rPr lang="en-US" sz="2400" dirty="0"/>
              <a:t> → Total Customers by </a:t>
            </a:r>
            <a:r>
              <a:rPr lang="en-US" sz="2400" b="1" dirty="0"/>
              <a:t>Phone Service</a:t>
            </a:r>
            <a:endParaRPr lang="en-US" sz="2400" dirty="0"/>
          </a:p>
          <a:p>
            <a:pPr marL="342900" indent="-342900">
              <a:buFont typeface="Arial" panose="020B0604020202020204" pitchFamily="34" charset="0"/>
              <a:buChar char="•"/>
            </a:pPr>
            <a:r>
              <a:rPr lang="en-US" sz="2400" b="1" dirty="0"/>
              <a:t>Stacked Bar Chart</a:t>
            </a:r>
            <a:r>
              <a:rPr lang="en-US" sz="2400" dirty="0"/>
              <a:t> → Churn Rate by </a:t>
            </a:r>
            <a:r>
              <a:rPr lang="en-US" sz="2400" b="1" dirty="0"/>
              <a:t>Internet Service &amp; Streaming TV</a:t>
            </a:r>
            <a:endParaRPr lang="en-US" sz="2400" dirty="0"/>
          </a:p>
          <a:p>
            <a:r>
              <a:rPr lang="en-US" sz="2400" b="1" u="sng" dirty="0">
                <a:solidFill>
                  <a:schemeClr val="accent3"/>
                </a:solidFill>
              </a:rPr>
              <a:t>Slicers:</a:t>
            </a:r>
          </a:p>
          <a:p>
            <a:pPr marL="342900" indent="-342900">
              <a:buFont typeface="Arial" panose="020B0604020202020204" pitchFamily="34" charset="0"/>
              <a:buChar char="•"/>
            </a:pPr>
            <a:r>
              <a:rPr lang="en-US" sz="2400" b="1" dirty="0"/>
              <a:t>Contract</a:t>
            </a:r>
          </a:p>
          <a:p>
            <a:pPr marL="342900" indent="-342900">
              <a:buFont typeface="Arial" panose="020B0604020202020204" pitchFamily="34" charset="0"/>
              <a:buChar char="•"/>
            </a:pPr>
            <a:r>
              <a:rPr lang="en-US" sz="2400" b="1" dirty="0"/>
              <a:t>Gender</a:t>
            </a:r>
          </a:p>
          <a:p>
            <a:pPr marL="342900" indent="-342900">
              <a:buFont typeface="Arial" panose="020B0604020202020204" pitchFamily="34" charset="0"/>
              <a:buChar char="•"/>
            </a:pPr>
            <a:r>
              <a:rPr lang="en-US" sz="2400" b="1" dirty="0"/>
              <a:t>Senior Citizen</a:t>
            </a:r>
          </a:p>
          <a:p>
            <a:pPr marL="342900" indent="-342900">
              <a:buFont typeface="Arial" panose="020B0604020202020204" pitchFamily="34" charset="0"/>
              <a:buChar char="•"/>
            </a:pPr>
            <a:r>
              <a:rPr lang="en-US" sz="2400" b="1" dirty="0"/>
              <a:t>Internet Service</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196FFC-C533-5D72-02B7-4F3647AE2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4877"/>
            <a:ext cx="12115800" cy="68431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91832" y="304800"/>
            <a:ext cx="10808335" cy="632460"/>
          </a:xfrm>
          <a:prstGeom prst="rect">
            <a:avLst/>
          </a:prstGeom>
        </p:spPr>
        <p:txBody>
          <a:bodyPr vert="horz" wrap="square" lIns="0" tIns="16510" rIns="0" bIns="0" rtlCol="0">
            <a:spAutoFit/>
          </a:bodyPr>
          <a:lstStyle/>
          <a:p>
            <a:pPr marL="131445">
              <a:lnSpc>
                <a:spcPct val="100000"/>
              </a:lnSpc>
              <a:spcBef>
                <a:spcPts val="130"/>
              </a:spcBef>
            </a:pPr>
            <a:r>
              <a:rPr lang="en-IN" dirty="0"/>
              <a:t>Contract &amp; Billing Insights</a:t>
            </a:r>
            <a:endParaRPr spc="-10" dirty="0"/>
          </a:p>
        </p:txBody>
      </p:sp>
      <p:sp>
        <p:nvSpPr>
          <p:cNvPr id="3" name="object 3"/>
          <p:cNvSpPr txBox="1"/>
          <p:nvPr/>
        </p:nvSpPr>
        <p:spPr>
          <a:xfrm>
            <a:off x="691832" y="1143000"/>
            <a:ext cx="10808335" cy="5552802"/>
          </a:xfrm>
          <a:prstGeom prst="rect">
            <a:avLst/>
          </a:prstGeom>
        </p:spPr>
        <p:txBody>
          <a:bodyPr vert="horz" wrap="square" lIns="0" tIns="12700" rIns="0" bIns="0" rtlCol="0">
            <a:spAutoFit/>
          </a:bodyPr>
          <a:lstStyle/>
          <a:p>
            <a:r>
              <a:rPr lang="en-US" sz="2400" b="1" u="sng" dirty="0">
                <a:solidFill>
                  <a:schemeClr val="accent3"/>
                </a:solidFill>
              </a:rPr>
              <a:t>KPI Cards:</a:t>
            </a:r>
          </a:p>
          <a:p>
            <a:pPr marL="342900" indent="-342900">
              <a:buFont typeface="Arial" panose="020B0604020202020204" pitchFamily="34" charset="0"/>
              <a:buChar char="•"/>
            </a:pPr>
            <a:r>
              <a:rPr lang="en-US" sz="2400" b="1" dirty="0"/>
              <a:t>Avg Monthly Charge</a:t>
            </a:r>
            <a:endParaRPr lang="en-US" sz="2400" dirty="0"/>
          </a:p>
          <a:p>
            <a:pPr marL="342900" indent="-342900">
              <a:buFont typeface="Arial" panose="020B0604020202020204" pitchFamily="34" charset="0"/>
              <a:buChar char="•"/>
            </a:pPr>
            <a:r>
              <a:rPr lang="en-US" sz="2400" b="1" dirty="0"/>
              <a:t>Churn Customers</a:t>
            </a:r>
            <a:endParaRPr lang="en-US" sz="2400" dirty="0"/>
          </a:p>
          <a:p>
            <a:pPr marL="342900" indent="-342900">
              <a:buFont typeface="Arial" panose="020B0604020202020204" pitchFamily="34" charset="0"/>
              <a:buChar char="•"/>
            </a:pPr>
            <a:r>
              <a:rPr lang="en-US" sz="2400" b="1" dirty="0"/>
              <a:t>Churn Rate</a:t>
            </a:r>
            <a:endParaRPr lang="en-US" sz="2400" dirty="0"/>
          </a:p>
          <a:p>
            <a:pPr marL="342900" indent="-342900">
              <a:buFont typeface="Arial" panose="020B0604020202020204" pitchFamily="34" charset="0"/>
              <a:buChar char="•"/>
            </a:pPr>
            <a:r>
              <a:rPr lang="en-US" sz="2400" b="1" dirty="0"/>
              <a:t>Avg Monthly Charge</a:t>
            </a:r>
            <a:r>
              <a:rPr lang="en-US" sz="2400" dirty="0"/>
              <a:t> (billing focus)</a:t>
            </a:r>
          </a:p>
          <a:p>
            <a:r>
              <a:rPr lang="en-US" sz="2400" b="1" u="sng" dirty="0">
                <a:solidFill>
                  <a:schemeClr val="accent3"/>
                </a:solidFill>
              </a:rPr>
              <a:t>Charts &amp; Visuals:</a:t>
            </a:r>
          </a:p>
          <a:p>
            <a:pPr marL="342900" indent="-342900">
              <a:buFont typeface="Arial" panose="020B0604020202020204" pitchFamily="34" charset="0"/>
              <a:buChar char="•"/>
            </a:pPr>
            <a:r>
              <a:rPr lang="en-US" sz="2400" b="1" dirty="0"/>
              <a:t>Bar Chart</a:t>
            </a:r>
            <a:r>
              <a:rPr lang="en-US" sz="2400" dirty="0"/>
              <a:t> → Churn Rate by </a:t>
            </a:r>
            <a:r>
              <a:rPr lang="en-US" sz="2400" b="1" dirty="0"/>
              <a:t>Contract</a:t>
            </a:r>
            <a:endParaRPr lang="en-US" sz="2400" dirty="0"/>
          </a:p>
          <a:p>
            <a:pPr marL="342900" indent="-342900">
              <a:buFont typeface="Arial" panose="020B0604020202020204" pitchFamily="34" charset="0"/>
              <a:buChar char="•"/>
            </a:pPr>
            <a:r>
              <a:rPr lang="en-US" sz="2400" b="1" dirty="0"/>
              <a:t>Clustered Column Chart</a:t>
            </a:r>
            <a:r>
              <a:rPr lang="en-US" sz="2400" dirty="0"/>
              <a:t> → Total Customers by </a:t>
            </a:r>
            <a:r>
              <a:rPr lang="en-US" sz="2400" b="1" dirty="0"/>
              <a:t>Tenure Group &amp; Contract</a:t>
            </a:r>
            <a:endParaRPr lang="en-US" sz="2400" dirty="0"/>
          </a:p>
          <a:p>
            <a:pPr marL="342900" indent="-342900">
              <a:buFont typeface="Arial" panose="020B0604020202020204" pitchFamily="34" charset="0"/>
              <a:buChar char="•"/>
            </a:pPr>
            <a:r>
              <a:rPr lang="en-US" sz="2400" b="1" dirty="0"/>
              <a:t>Bar Chart</a:t>
            </a:r>
            <a:r>
              <a:rPr lang="en-US" sz="2400" dirty="0"/>
              <a:t> → Churn Rate by </a:t>
            </a:r>
            <a:r>
              <a:rPr lang="en-US" sz="2400" b="1" dirty="0"/>
              <a:t>Payment Method</a:t>
            </a:r>
            <a:endParaRPr lang="en-US" sz="2400" dirty="0"/>
          </a:p>
          <a:p>
            <a:pPr marL="342900" indent="-342900">
              <a:buFont typeface="Arial" panose="020B0604020202020204" pitchFamily="34" charset="0"/>
              <a:buChar char="•"/>
            </a:pPr>
            <a:r>
              <a:rPr lang="en-US" sz="2400" b="1" dirty="0"/>
              <a:t>Stacked Column Chart</a:t>
            </a:r>
            <a:r>
              <a:rPr lang="en-US" sz="2400" dirty="0"/>
              <a:t> → Avg Total Charges by </a:t>
            </a:r>
            <a:r>
              <a:rPr lang="en-US" sz="2400" b="1" dirty="0"/>
              <a:t>Paperless Billing &amp; Churn</a:t>
            </a:r>
            <a:endParaRPr lang="en-US" sz="2400" dirty="0"/>
          </a:p>
          <a:p>
            <a:pPr marL="342900" indent="-342900">
              <a:buFont typeface="Arial" panose="020B0604020202020204" pitchFamily="34" charset="0"/>
              <a:buChar char="•"/>
            </a:pPr>
            <a:r>
              <a:rPr lang="en-US" sz="2400" b="1" dirty="0"/>
              <a:t>Bar Chart</a:t>
            </a:r>
            <a:r>
              <a:rPr lang="en-US" sz="2400" dirty="0"/>
              <a:t> → Avg Tenure by </a:t>
            </a:r>
            <a:r>
              <a:rPr lang="en-US" sz="2400" b="1" dirty="0"/>
              <a:t>Contract</a:t>
            </a:r>
            <a:endParaRPr lang="en-US" sz="2400" dirty="0"/>
          </a:p>
          <a:p>
            <a:r>
              <a:rPr lang="en-US" sz="2400" b="1" u="sng" dirty="0">
                <a:solidFill>
                  <a:schemeClr val="accent3"/>
                </a:solidFill>
              </a:rPr>
              <a:t>Slicers:</a:t>
            </a:r>
          </a:p>
          <a:p>
            <a:pPr marL="342900" indent="-342900">
              <a:buFont typeface="Arial" panose="020B0604020202020204" pitchFamily="34" charset="0"/>
              <a:buChar char="•"/>
            </a:pPr>
            <a:r>
              <a:rPr lang="en-US" sz="2400" b="1" dirty="0"/>
              <a:t>Payment Method</a:t>
            </a:r>
          </a:p>
          <a:p>
            <a:pPr marL="342900" indent="-342900">
              <a:buFont typeface="Arial" panose="020B0604020202020204" pitchFamily="34" charset="0"/>
              <a:buChar char="•"/>
            </a:pPr>
            <a:r>
              <a:rPr lang="en-US" sz="2400" b="1" dirty="0"/>
              <a:t>Contract</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64698F-A65F-80DB-DB97-8746A3BA77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91077"/>
            <a:ext cx="12115800" cy="676692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0" y="430810"/>
            <a:ext cx="8050912" cy="624530"/>
          </a:xfrm>
          <a:prstGeom prst="rect">
            <a:avLst/>
          </a:prstGeom>
        </p:spPr>
        <p:txBody>
          <a:bodyPr vert="horz" wrap="square" lIns="0" tIns="16510" rIns="0" bIns="0" rtlCol="0">
            <a:spAutoFit/>
          </a:bodyPr>
          <a:lstStyle/>
          <a:p>
            <a:pPr marL="12700">
              <a:lnSpc>
                <a:spcPct val="100000"/>
              </a:lnSpc>
              <a:spcBef>
                <a:spcPts val="130"/>
              </a:spcBef>
            </a:pPr>
            <a:r>
              <a:rPr lang="en-IN" dirty="0"/>
              <a:t>Churn Prediction &amp; Key Drivers</a:t>
            </a:r>
            <a:endParaRPr b="0" spc="-10" dirty="0">
              <a:latin typeface="Times New Roman"/>
              <a:cs typeface="Times New Roman"/>
            </a:endParaRPr>
          </a:p>
        </p:txBody>
      </p:sp>
      <p:sp>
        <p:nvSpPr>
          <p:cNvPr id="3" name="object 3"/>
          <p:cNvSpPr txBox="1"/>
          <p:nvPr/>
        </p:nvSpPr>
        <p:spPr>
          <a:xfrm>
            <a:off x="914400" y="1447800"/>
            <a:ext cx="9133840" cy="4630114"/>
          </a:xfrm>
          <a:prstGeom prst="rect">
            <a:avLst/>
          </a:prstGeom>
        </p:spPr>
        <p:txBody>
          <a:bodyPr vert="horz" wrap="square" lIns="0" tIns="13335" rIns="0" bIns="0" rtlCol="0">
            <a:spAutoFit/>
          </a:bodyPr>
          <a:lstStyle/>
          <a:p>
            <a:r>
              <a:rPr lang="en-US" sz="2000" b="1" u="sng" dirty="0">
                <a:solidFill>
                  <a:schemeClr val="accent3"/>
                </a:solidFill>
              </a:rPr>
              <a:t>KPI Cards:</a:t>
            </a:r>
          </a:p>
          <a:p>
            <a:pPr marL="342900" indent="-342900">
              <a:buFont typeface="Arial" panose="020B0604020202020204" pitchFamily="34" charset="0"/>
              <a:buChar char="•"/>
            </a:pPr>
            <a:r>
              <a:rPr lang="en-US" sz="2000" b="1" dirty="0"/>
              <a:t>Total Customers</a:t>
            </a:r>
            <a:endParaRPr lang="en-US" sz="2000" dirty="0"/>
          </a:p>
          <a:p>
            <a:pPr marL="342900" indent="-342900">
              <a:buFont typeface="Arial" panose="020B0604020202020204" pitchFamily="34" charset="0"/>
              <a:buChar char="•"/>
            </a:pPr>
            <a:r>
              <a:rPr lang="en-US" sz="2000" b="1" dirty="0"/>
              <a:t>Avg Monthly Charge</a:t>
            </a:r>
            <a:endParaRPr lang="en-US" sz="2000" dirty="0"/>
          </a:p>
          <a:p>
            <a:pPr marL="342900" indent="-342900">
              <a:buFont typeface="Arial" panose="020B0604020202020204" pitchFamily="34" charset="0"/>
              <a:buChar char="•"/>
            </a:pPr>
            <a:r>
              <a:rPr lang="en-US" sz="2000" b="1" dirty="0"/>
              <a:t>Churn Rate</a:t>
            </a:r>
            <a:endParaRPr lang="en-US" sz="2000" dirty="0"/>
          </a:p>
          <a:p>
            <a:pPr marL="342900" indent="-342900">
              <a:buFont typeface="Arial" panose="020B0604020202020204" pitchFamily="34" charset="0"/>
              <a:buChar char="•"/>
            </a:pPr>
            <a:r>
              <a:rPr lang="en-US" sz="2000" b="1" dirty="0"/>
              <a:t>Avg Tenure</a:t>
            </a:r>
            <a:endParaRPr lang="en-US" sz="2000" dirty="0"/>
          </a:p>
          <a:p>
            <a:pPr marL="342900" indent="-342900">
              <a:buFont typeface="Arial" panose="020B0604020202020204" pitchFamily="34" charset="0"/>
              <a:buChar char="•"/>
            </a:pPr>
            <a:r>
              <a:rPr lang="en-US" sz="2000" b="1" dirty="0"/>
              <a:t>Churn Customers</a:t>
            </a:r>
            <a:endParaRPr lang="en-US" sz="2000" dirty="0"/>
          </a:p>
          <a:p>
            <a:r>
              <a:rPr lang="en-US" sz="2000" b="1" u="sng" dirty="0">
                <a:solidFill>
                  <a:schemeClr val="accent3"/>
                </a:solidFill>
              </a:rPr>
              <a:t>Charts &amp; Visuals:</a:t>
            </a:r>
          </a:p>
          <a:p>
            <a:pPr marL="342900" indent="-342900">
              <a:buFont typeface="Arial" panose="020B0604020202020204" pitchFamily="34" charset="0"/>
              <a:buChar char="•"/>
            </a:pPr>
            <a:r>
              <a:rPr lang="en-US" sz="2000" b="1" dirty="0"/>
              <a:t>Column Chart</a:t>
            </a:r>
            <a:r>
              <a:rPr lang="en-US" sz="2000" dirty="0"/>
              <a:t> → Total Customers by </a:t>
            </a:r>
            <a:r>
              <a:rPr lang="en-US" sz="2000" b="1" dirty="0"/>
              <a:t>Risk Score</a:t>
            </a:r>
            <a:endParaRPr lang="en-US" sz="2000" dirty="0"/>
          </a:p>
          <a:p>
            <a:pPr marL="342900" indent="-342900">
              <a:buFont typeface="Arial" panose="020B0604020202020204" pitchFamily="34" charset="0"/>
              <a:buChar char="•"/>
            </a:pPr>
            <a:r>
              <a:rPr lang="en-US" sz="2000" b="1" dirty="0"/>
              <a:t>Gauge Chart</a:t>
            </a:r>
            <a:r>
              <a:rPr lang="en-US" sz="2000" dirty="0"/>
              <a:t> → Churn Rate</a:t>
            </a:r>
          </a:p>
          <a:p>
            <a:pPr marL="342900" indent="-342900">
              <a:buFont typeface="Arial" panose="020B0604020202020204" pitchFamily="34" charset="0"/>
              <a:buChar char="•"/>
            </a:pPr>
            <a:r>
              <a:rPr lang="en-US" sz="2000" b="1" dirty="0"/>
              <a:t>Donut Chart</a:t>
            </a:r>
            <a:r>
              <a:rPr lang="en-US" sz="2000" dirty="0"/>
              <a:t> → Avg Total Charges by </a:t>
            </a:r>
            <a:r>
              <a:rPr lang="en-US" sz="2000" b="1" dirty="0"/>
              <a:t>Churn</a:t>
            </a:r>
            <a:endParaRPr lang="en-US" sz="2000" dirty="0"/>
          </a:p>
          <a:p>
            <a:pPr marL="342900" indent="-342900">
              <a:buFont typeface="Arial" panose="020B0604020202020204" pitchFamily="34" charset="0"/>
              <a:buChar char="•"/>
            </a:pPr>
            <a:r>
              <a:rPr lang="en-US" sz="2000" b="1" dirty="0"/>
              <a:t>Decomposition Tree</a:t>
            </a:r>
            <a:r>
              <a:rPr lang="en-US" sz="2000" dirty="0"/>
              <a:t> → Churn by</a:t>
            </a:r>
          </a:p>
          <a:p>
            <a:pPr marL="342900" lvl="1" indent="-342900">
              <a:buFont typeface="Courier New" panose="02070309020205020404" pitchFamily="49" charset="0"/>
              <a:buChar char="o"/>
            </a:pPr>
            <a:r>
              <a:rPr lang="en-US" sz="2000" dirty="0"/>
              <a:t>Contract</a:t>
            </a:r>
          </a:p>
          <a:p>
            <a:pPr marL="342900" lvl="1" indent="-342900">
              <a:buFont typeface="Courier New" panose="02070309020205020404" pitchFamily="49" charset="0"/>
              <a:buChar char="o"/>
            </a:pPr>
            <a:r>
              <a:rPr lang="en-US" sz="2000" dirty="0"/>
              <a:t>Internet Service</a:t>
            </a:r>
          </a:p>
          <a:p>
            <a:pPr marL="342900" lvl="1" indent="-342900">
              <a:buFont typeface="Courier New" panose="02070309020205020404" pitchFamily="49" charset="0"/>
              <a:buChar char="o"/>
            </a:pPr>
            <a:r>
              <a:rPr lang="en-US" sz="2000" dirty="0"/>
              <a:t>Tech Support</a:t>
            </a:r>
          </a:p>
          <a:p>
            <a:pPr marL="342900" indent="-342900">
              <a:buFont typeface="Arial" panose="020B0604020202020204" pitchFamily="34" charset="0"/>
              <a:buChar char="•"/>
            </a:pPr>
            <a:r>
              <a:rPr lang="en-US" sz="2000" b="1" dirty="0"/>
              <a:t>Key Influencers Visual</a:t>
            </a:r>
            <a:r>
              <a:rPr lang="en-US" sz="2000" dirty="0"/>
              <a:t> → What influences Churn = Yes</a:t>
            </a:r>
          </a:p>
        </p:txBody>
      </p:sp>
      <p:pic>
        <p:nvPicPr>
          <p:cNvPr id="4" name="object 4" descr="Innomatics Research labs - Crunchbase Company Profile &amp; Funding"/>
          <p:cNvPicPr/>
          <p:nvPr/>
        </p:nvPicPr>
        <p:blipFill>
          <a:blip r:embed="rId2" cstate="print"/>
          <a:stretch>
            <a:fillRect/>
          </a:stretch>
        </p:blipFill>
        <p:spPr>
          <a:xfrm>
            <a:off x="9648825" y="6267450"/>
            <a:ext cx="2333625" cy="4286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800" y="457200"/>
            <a:ext cx="7452995" cy="632460"/>
          </a:xfrm>
          <a:prstGeom prst="rect">
            <a:avLst/>
          </a:prstGeom>
        </p:spPr>
        <p:txBody>
          <a:bodyPr vert="horz" wrap="square" lIns="0" tIns="16510" rIns="0" bIns="0" rtlCol="0">
            <a:spAutoFit/>
          </a:bodyPr>
          <a:lstStyle/>
          <a:p>
            <a:pPr marL="12700">
              <a:lnSpc>
                <a:spcPct val="100000"/>
              </a:lnSpc>
              <a:spcBef>
                <a:spcPts val="130"/>
              </a:spcBef>
            </a:pPr>
            <a:r>
              <a:rPr dirty="0"/>
              <a:t>Applications</a:t>
            </a:r>
            <a:r>
              <a:rPr spc="45" dirty="0"/>
              <a:t> </a:t>
            </a:r>
            <a:r>
              <a:rPr dirty="0"/>
              <a:t>&amp;</a:t>
            </a:r>
            <a:r>
              <a:rPr spc="110" dirty="0"/>
              <a:t> </a:t>
            </a:r>
            <a:r>
              <a:rPr spc="-10" dirty="0"/>
              <a:t>Recommendations</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
        <p:nvSpPr>
          <p:cNvPr id="3" name="Rectangle 1">
            <a:extLst>
              <a:ext uri="{FF2B5EF4-FFF2-40B4-BE49-F238E27FC236}">
                <a16:creationId xmlns:a16="http://schemas.microsoft.com/office/drawing/2014/main" id="{6D9DCC66-0211-EACE-23C4-7D774B56FF5F}"/>
              </a:ext>
            </a:extLst>
          </p:cNvPr>
          <p:cNvSpPr>
            <a:spLocks noChangeArrowheads="1"/>
          </p:cNvSpPr>
          <p:nvPr/>
        </p:nvSpPr>
        <p:spPr bwMode="auto">
          <a:xfrm>
            <a:off x="685800" y="1405489"/>
            <a:ext cx="11506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Customer Retention Focus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Identify high-risk churn customers and offer personalized discounts and retention plans.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Promote Long-Term Contracts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Encourage month-to-month customers to move to one-year or two-year contracts with incentives.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Improve Service Bundling</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Promote add-on services like Tech Support and Online Security to reduce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Optimize Billing Methods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Encourage automatic payment methods to improve customer convenience and reduce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Data-Driven Monitoring</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Use Power BI dashboards for continuous churn tracking and proactive decision-making.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F4BF73-88E6-575F-4F9C-5AEFCA7D2BD6}"/>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CA827382-9502-0F93-CB8B-3B18E2E58171}"/>
              </a:ext>
            </a:extLst>
          </p:cNvPr>
          <p:cNvSpPr txBox="1">
            <a:spLocks noGrp="1"/>
          </p:cNvSpPr>
          <p:nvPr>
            <p:ph type="title"/>
          </p:nvPr>
        </p:nvSpPr>
        <p:spPr>
          <a:xfrm>
            <a:off x="685800" y="457200"/>
            <a:ext cx="9525000" cy="624530"/>
          </a:xfrm>
          <a:prstGeom prst="rect">
            <a:avLst/>
          </a:prstGeom>
        </p:spPr>
        <p:txBody>
          <a:bodyPr vert="horz" wrap="square" lIns="0" tIns="16510" rIns="0" bIns="0" rtlCol="0">
            <a:spAutoFit/>
          </a:bodyPr>
          <a:lstStyle/>
          <a:p>
            <a:pPr marL="12700">
              <a:lnSpc>
                <a:spcPct val="100000"/>
              </a:lnSpc>
              <a:spcBef>
                <a:spcPts val="130"/>
              </a:spcBef>
            </a:pPr>
            <a:r>
              <a:rPr lang="en-US" dirty="0"/>
              <a:t>Challenges Faced During the Project</a:t>
            </a:r>
            <a:endParaRPr spc="-10" dirty="0"/>
          </a:p>
        </p:txBody>
      </p:sp>
      <p:pic>
        <p:nvPicPr>
          <p:cNvPr id="4" name="object 4" descr="Innomatics Research labs - Crunchbase Company Profile &amp; Funding">
            <a:extLst>
              <a:ext uri="{FF2B5EF4-FFF2-40B4-BE49-F238E27FC236}">
                <a16:creationId xmlns:a16="http://schemas.microsoft.com/office/drawing/2014/main" id="{9BA66D26-3C92-92E2-31EA-836CEE77F09B}"/>
              </a:ext>
            </a:extLst>
          </p:cNvPr>
          <p:cNvPicPr/>
          <p:nvPr/>
        </p:nvPicPr>
        <p:blipFill>
          <a:blip r:embed="rId2" cstate="print"/>
          <a:stretch>
            <a:fillRect/>
          </a:stretch>
        </p:blipFill>
        <p:spPr>
          <a:xfrm>
            <a:off x="9648825" y="6257925"/>
            <a:ext cx="2333625" cy="428625"/>
          </a:xfrm>
          <a:prstGeom prst="rect">
            <a:avLst/>
          </a:prstGeom>
        </p:spPr>
      </p:pic>
      <p:sp>
        <p:nvSpPr>
          <p:cNvPr id="5" name="Rectangle 1">
            <a:extLst>
              <a:ext uri="{FF2B5EF4-FFF2-40B4-BE49-F238E27FC236}">
                <a16:creationId xmlns:a16="http://schemas.microsoft.com/office/drawing/2014/main" id="{1D66A619-6FD9-BF67-4693-E06CB738B316}"/>
              </a:ext>
            </a:extLst>
          </p:cNvPr>
          <p:cNvSpPr>
            <a:spLocks noChangeArrowheads="1"/>
          </p:cNvSpPr>
          <p:nvPr/>
        </p:nvSpPr>
        <p:spPr bwMode="auto">
          <a:xfrm>
            <a:off x="609600" y="1578590"/>
            <a:ext cx="11125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Quality Issues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The dataset contained missing and inconsistent values (especially in Total Charges and service fields), which required careful cleaning and transformation.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Understanding Business Logic</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Interpreting churn from a business perspective (tenure, contracts, services) was challenging and required domain understanding, not just technical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Selecting the Right Visuals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Choosing visuals that clearly communicated insights without cluttering the dashboard required multiple iterations and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Identifying True Churn Drivers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Churn depended on multiple factors, making it difficult to isolate key drivers without using advanced visuals like Key Influencers and Decomposition Tree.</a:t>
            </a:r>
          </a:p>
        </p:txBody>
      </p:sp>
    </p:spTree>
    <p:extLst>
      <p:ext uri="{BB962C8B-B14F-4D97-AF65-F5344CB8AC3E}">
        <p14:creationId xmlns:p14="http://schemas.microsoft.com/office/powerpoint/2010/main" val="3305991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90600" y="685800"/>
            <a:ext cx="2449830" cy="632460"/>
          </a:xfrm>
          <a:prstGeom prst="rect">
            <a:avLst/>
          </a:prstGeom>
        </p:spPr>
        <p:txBody>
          <a:bodyPr vert="horz" wrap="square" lIns="0" tIns="16510" rIns="0" bIns="0" rtlCol="0">
            <a:spAutoFit/>
          </a:bodyPr>
          <a:lstStyle/>
          <a:p>
            <a:pPr marL="12700">
              <a:lnSpc>
                <a:spcPct val="100000"/>
              </a:lnSpc>
              <a:spcBef>
                <a:spcPts val="130"/>
              </a:spcBef>
            </a:pPr>
            <a:r>
              <a:rPr spc="-10" dirty="0"/>
              <a:t>Conclusion</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
        <p:nvSpPr>
          <p:cNvPr id="8" name="Rectangle 4">
            <a:extLst>
              <a:ext uri="{FF2B5EF4-FFF2-40B4-BE49-F238E27FC236}">
                <a16:creationId xmlns:a16="http://schemas.microsoft.com/office/drawing/2014/main" id="{FAF09E98-724D-3A42-4DC6-909DF370EAE2}"/>
              </a:ext>
            </a:extLst>
          </p:cNvPr>
          <p:cNvSpPr>
            <a:spLocks noChangeArrowheads="1"/>
          </p:cNvSpPr>
          <p:nvPr/>
        </p:nvSpPr>
        <p:spPr bwMode="auto">
          <a:xfrm>
            <a:off x="609601" y="1491734"/>
            <a:ext cx="115823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Churn rate is </a:t>
            </a:r>
            <a:r>
              <a:rPr kumimoji="0" lang="en-US" altLang="en-US" sz="2400" b="1" i="0" u="none" strike="noStrike" cap="none" normalizeH="0" baseline="0" dirty="0">
                <a:ln>
                  <a:noFill/>
                </a:ln>
                <a:solidFill>
                  <a:schemeClr val="tx1"/>
                </a:solidFill>
                <a:effectLst/>
                <a:latin typeface="Arial" panose="020B0604020202020204" pitchFamily="34" charset="0"/>
              </a:rPr>
              <a:t>27%</a:t>
            </a:r>
            <a:r>
              <a:rPr kumimoji="0" lang="en-US" altLang="en-US" sz="2400" b="0" i="0" u="none" strike="noStrike" cap="none" normalizeH="0" baseline="0" dirty="0">
                <a:ln>
                  <a:noFill/>
                </a:ln>
                <a:solidFill>
                  <a:schemeClr val="tx1"/>
                </a:solidFill>
                <a:effectLst/>
                <a:latin typeface="Arial" panose="020B0604020202020204" pitchFamily="34" charset="0"/>
              </a:rPr>
              <a:t>, mainly driven by </a:t>
            </a:r>
            <a:r>
              <a:rPr kumimoji="0" lang="en-US" altLang="en-US" sz="2400" b="1" i="0" u="none" strike="noStrike" cap="none" normalizeH="0" baseline="0" dirty="0">
                <a:ln>
                  <a:noFill/>
                </a:ln>
                <a:solidFill>
                  <a:schemeClr val="tx1"/>
                </a:solidFill>
                <a:effectLst/>
                <a:latin typeface="Arial" panose="020B0604020202020204" pitchFamily="34" charset="0"/>
              </a:rPr>
              <a:t>month-to-month contracts nearly 41% in     entire month to month contracts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Fiber optic users show </a:t>
            </a:r>
            <a:r>
              <a:rPr kumimoji="0" lang="en-US" altLang="en-US" sz="2400" b="1" i="0" u="none" strike="noStrike" cap="none" normalizeH="0" baseline="0" dirty="0">
                <a:ln>
                  <a:noFill/>
                </a:ln>
                <a:solidFill>
                  <a:schemeClr val="tx1"/>
                </a:solidFill>
                <a:effectLst/>
                <a:latin typeface="Arial" panose="020B0604020202020204" pitchFamily="34" charset="0"/>
              </a:rPr>
              <a:t>higher churn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Longer tenure &amp; bundled services reduce churn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Dashboards help businesses take </a:t>
            </a:r>
            <a:r>
              <a:rPr kumimoji="0" lang="en-US" altLang="en-US" sz="2400" b="1" i="0" u="none" strike="noStrike" cap="none" normalizeH="0" baseline="0" dirty="0">
                <a:ln>
                  <a:noFill/>
                </a:ln>
                <a:solidFill>
                  <a:schemeClr val="tx1"/>
                </a:solidFill>
                <a:effectLst/>
                <a:latin typeface="Arial" panose="020B0604020202020204" pitchFamily="34" charset="0"/>
              </a:rPr>
              <a:t>data-driven retention decisions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400" dirty="0"/>
              <a:t>Customers with longer tenure and bundled services show higher retention.</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2400" dirty="0"/>
              <a:t>These insights help businesses improve customer satisfaction, reduce churn, and increase profitability.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90550" y="501056"/>
            <a:ext cx="11391900" cy="6185535"/>
            <a:chOff x="590550" y="501056"/>
            <a:chExt cx="11391900" cy="6185535"/>
          </a:xfrm>
        </p:grpSpPr>
        <p:pic>
          <p:nvPicPr>
            <p:cNvPr id="3" name="object 3" descr="Quotation – PRS Labs"/>
            <p:cNvPicPr/>
            <p:nvPr/>
          </p:nvPicPr>
          <p:blipFill>
            <a:blip r:embed="rId2" cstate="print"/>
            <a:stretch>
              <a:fillRect/>
            </a:stretch>
          </p:blipFill>
          <p:spPr>
            <a:xfrm>
              <a:off x="590550" y="501056"/>
              <a:ext cx="10925175" cy="6185493"/>
            </a:xfrm>
            <a:prstGeom prst="rect">
              <a:avLst/>
            </a:prstGeom>
          </p:spPr>
        </p:pic>
        <p:pic>
          <p:nvPicPr>
            <p:cNvPr id="4" name="object 4" descr="Innomatics Research labs - Crunchbase Company Profile &amp; Funding"/>
            <p:cNvPicPr/>
            <p:nvPr/>
          </p:nvPicPr>
          <p:blipFill>
            <a:blip r:embed="rId3" cstate="print"/>
            <a:stretch>
              <a:fillRect/>
            </a:stretch>
          </p:blipFill>
          <p:spPr>
            <a:xfrm>
              <a:off x="9648825" y="6257924"/>
              <a:ext cx="2333625" cy="428625"/>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TotalTime>
  <Words>948</Words>
  <Application>Microsoft Office PowerPoint</Application>
  <PresentationFormat>Widescreen</PresentationFormat>
  <Paragraphs>144</Paragraphs>
  <Slides>20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Courier New</vt:lpstr>
      <vt:lpstr>Libre Baskerville</vt:lpstr>
      <vt:lpstr>Times New Roman</vt:lpstr>
      <vt:lpstr>Wingdings</vt:lpstr>
      <vt:lpstr>Office Theme</vt:lpstr>
      <vt:lpstr>Name: M. Vani Batchno: 435 Innomaticsresearchlabs</vt:lpstr>
      <vt:lpstr>Agenda</vt:lpstr>
      <vt:lpstr>Business Problem</vt:lpstr>
      <vt:lpstr>Project Objective</vt:lpstr>
      <vt:lpstr>Project Overview</vt:lpstr>
      <vt:lpstr>Data Preparation</vt:lpstr>
      <vt:lpstr>Dashboard Overview</vt:lpstr>
      <vt:lpstr>PowerPoint Presentation</vt:lpstr>
      <vt:lpstr>Customer Demographics Analysis</vt:lpstr>
      <vt:lpstr>PowerPoint Presentation</vt:lpstr>
      <vt:lpstr>Service Subscription Analysis</vt:lpstr>
      <vt:lpstr>PowerPoint Presentation</vt:lpstr>
      <vt:lpstr>Contract &amp; Billing Insights</vt:lpstr>
      <vt:lpstr>PowerPoint Presentation</vt:lpstr>
      <vt:lpstr>Churn Prediction &amp; Key Drivers</vt:lpstr>
      <vt:lpstr>Applications &amp; Recommendations</vt:lpstr>
      <vt:lpstr>Challenges Faced During the Project</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SHIVA</dc:creator>
  <cp:lastModifiedBy>Madipeddi Shiva Shankar</cp:lastModifiedBy>
  <cp:revision>4</cp:revision>
  <dcterms:created xsi:type="dcterms:W3CDTF">2025-12-29T15:00:16Z</dcterms:created>
  <dcterms:modified xsi:type="dcterms:W3CDTF">2026-01-02T12:26:30Z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2025-12-15T00:00:00Z</vt:filetime>
  </property>
  <property fmtid="{D5CDD505-2E9C-101B-9397-08002B2CF9AE}" pid="3" name="LastSaved">
    <vt:filetime>2025-12-29T00:00:00Z</vt:filetime>
  </property>
</Properties>
</file>